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4552" cy="73152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Online Appointment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CF0DE"/>
                </a:solidFill>
              </a:rPr>
              <a:t>ユーザーマニュアル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CF0DE"/>
                </a:solidFill>
              </a:rPr>
              <a:t>患者向け予約操作 ／ 管理者向け管理操作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実画面キャプチャ版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本マニュアルで説明する操作一覧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4864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486400" cy="45720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患者向け操作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01  トップページ（カレンダー表示）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02  診察日・時間スロット選択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03  予約フォーム入力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04  予約内容の確認・送信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05  予約のキャンセル方法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06  プライバシーポリシー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07  モバイル表示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005840"/>
            <a:ext cx="56692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005840"/>
            <a:ext cx="5669280" cy="45720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005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管理者向け操作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00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08  ログインページ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09  ダッシュボード（予約一覧）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10  予約詳細モーダル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11  設定 — 院内情報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947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12  設定 — 営業時間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13  設定 — 休日設定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92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14  設定 — お知らせ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440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3040"/>
                </a:solidFill>
              </a:rPr>
              <a:t>15  設定 — アカウント管理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74552" cy="73152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患者向け操作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0DE"/>
                </a:solidFill>
              </a:rPr>
              <a:t>  予約の取り方（カレンダー → スロット選択 → フォーム入力 → 確認 → 送信）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0DE"/>
                </a:solidFill>
              </a:rPr>
              <a:t>  予約キャンセルの方法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0DE"/>
                </a:solidFill>
              </a:rPr>
              <a:t>  プライバシーポリシーの確認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0DE"/>
                </a:solidFill>
              </a:rPr>
              <a:t>  スマートフォンでの利用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トップページ — カレンダー表示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予約可能日の確認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患者向け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アクセス方法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・ブラウザでシステムURLを開く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・月単位のカレンダーが表示される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22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カレンダーの見方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・グレー表示 = 予約受付なし・満枠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・通常表示 = 予約可能日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・予約したい日付をクリックする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9410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注意事項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・受付時間外の日付は選択不可</a:t>
            </a:r>
          </a:p>
        </p:txBody>
      </p:sp>
      <p:pic>
        <p:nvPicPr>
          <p:cNvPr id="18" name="Picture 17" descr="01_calenda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診察日・時間スロット選択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希望する時間帯を選ぶ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患者向け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時間スロットの確認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・日付を選ぶと時間帯一覧が表示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・「空き」ボタン = 予約可能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579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・「×」ボタン = 満枠で選択不可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670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スロットの選択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・希望の時間をクリックして選択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・選択後「次へ」ボタンで進む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9410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変更したい場合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・別の時間をクリックで変更可能</a:t>
            </a:r>
          </a:p>
        </p:txBody>
      </p:sp>
      <p:pic>
        <p:nvPicPr>
          <p:cNvPr id="18" name="Picture 17" descr="02b_slot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予約フォーム入力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患者情報の入力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患者向け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必須入力項目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・お名前（漢字）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・ふりがな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579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・電話番号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054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・メールアドレス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8529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・郵便番号（自動補完対応）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004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・住所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7124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任意入力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1239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・症状・伝達事項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6360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個人情報同意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04748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・同意チェックを入れてから進む</a:t>
            </a:r>
          </a:p>
        </p:txBody>
      </p:sp>
      <p:pic>
        <p:nvPicPr>
          <p:cNvPr id="20" name="Picture 19" descr="04b_form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273" y="960120"/>
            <a:ext cx="404948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予約内容の確認・送信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入力内容の最終確認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患者向け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確認画面でできること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・入力した全情報を一覧表示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・「戻る」で修正も可能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22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予約送信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・「予約を確定する」ボタンで送信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・送信後、確認メールが届く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35935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確認メールの内容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0050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・予約日時・氏名・予約ID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・キャンセル用リンク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・院内情報（住所・電話番号）</a:t>
            </a:r>
          </a:p>
        </p:txBody>
      </p:sp>
      <p:pic>
        <p:nvPicPr>
          <p:cNvPr id="19" name="Picture 18" descr="05_confirm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予約のキャンセル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予約確認メールからキャンセルを行う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患者向け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キャンセル方法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・確認メール内のキャンセルリンクをクリック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・またはシステムの「キャンセル」ページへ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22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キャンセルページ操作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・予約IDを入力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・電話番号の末尾4桁を入力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・「キャンセルする」ボタンをクリック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9410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注意事項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・キャンセル後は元に戻せない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・再予約は新しく予約が必要</a:t>
            </a:r>
          </a:p>
        </p:txBody>
      </p:sp>
      <p:pic>
        <p:nvPicPr>
          <p:cNvPr id="19" name="Picture 18" descr="06_cance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プライバシーポリシー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個人情報の取り扱いについて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患者向け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アクセス方法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・予約フォームの同意リンクから確認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・または直接URLでアクセス可能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22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記載内容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・収集する個人情報の種類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・利用目的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・第三者への提供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7764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・お問い合わせ窓口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28853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同意について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・予約前に必ずご確認ください</a:t>
            </a:r>
          </a:p>
        </p:txBody>
      </p:sp>
      <p:pic>
        <p:nvPicPr>
          <p:cNvPr id="19" name="Picture 18" descr="07_privacy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224" y="960120"/>
            <a:ext cx="52775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モバイル表示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スマートフォンからの予約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患者向け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レスポンシブ対応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・スマートフォン・タブレットに最適化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・操作手順はPC版と同じ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22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モバイルでの操作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・カレンダーをタップして日付選択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・スロットをタップして時間選択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・フォーム入力 → 確認 → 送信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9410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推奨環境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・iOS Safari / Android Chrome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・最新バージョン推奨</a:t>
            </a:r>
          </a:p>
        </p:txBody>
      </p:sp>
      <p:pic>
        <p:nvPicPr>
          <p:cNvPr id="19" name="Picture 18" descr="m01_calendar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171" y="960120"/>
            <a:ext cx="261969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74552" cy="73152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管理者向け操作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0DE"/>
                </a:solidFill>
              </a:rPr>
              <a:t>  スタッフログインとダッシュボードの操作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0DE"/>
                </a:solidFill>
              </a:rPr>
              <a:t>  予約詳細の確認とステータス管理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0DE"/>
                </a:solidFill>
              </a:rPr>
              <a:t>  院内設定（院内情報・営業時間・休日・お知らせ・アカウント）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ログインページ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管理者アカウントでログインする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管理者向け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アクセス方法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・システムURL + /login.html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7510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ログイン手順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865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・メールアドレスを入力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・パスワードを入力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・「ログイン」ボタンをクリック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35935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セキュリティ仕様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0050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・セッションは閉じると自動失効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・管理者権限がない場合は拒否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8646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パスワード忘れ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27608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・「パスワードを忘れた方」リンクから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6235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7E8E"/>
                </a:solidFill>
              </a:rPr>
              <a:t>  リセットメールを送信できる</a:t>
            </a:r>
          </a:p>
        </p:txBody>
      </p:sp>
      <p:pic>
        <p:nvPicPr>
          <p:cNvPr id="21" name="Picture 20" descr="08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ダッシュボード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予約一覧とKPI確認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管理者向け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画面構成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・上部: KPI（今月の予約数・新規患者数）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・中央: 予約一覧テーブル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22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予約一覧の操作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・「詳細」ボタンで予約詳細を確認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・ステータスフィルターで絞り込み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・氏名・日付で検索可能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9410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ヘッダーの操作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・「設定」ボタンで各種設定を開く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・「ログアウト」でセッション終了</a:t>
            </a:r>
          </a:p>
        </p:txBody>
      </p:sp>
      <p:pic>
        <p:nvPicPr>
          <p:cNvPr id="19" name="Picture 18" descr="09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予約詳細モーダル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個別予約の詳細確認とステータス変更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管理者向け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表示される情報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・氏名・ふりがな・電話番号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・メールアドレス・住所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579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・予約日時・予約ID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054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・症状・伝達事項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0175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ステータス変更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・「確定」「キャンセル」「完了」に変更可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9410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その他の操作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・「PDF出力」で予約票を印刷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・「×」ボタンで閉じる</a:t>
            </a:r>
          </a:p>
        </p:txBody>
      </p:sp>
      <p:pic>
        <p:nvPicPr>
          <p:cNvPr id="19" name="Picture 18" descr="10_reservation_detail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設定 — 院内情報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院名・住所・電話番号・ロゴ等の設定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管理者向け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設定できる項目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・院名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・メールアドレス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579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・電話番号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054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・郵便番号・住所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8529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・院内ロゴ画像（PNG/JPG/WEBP）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004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・カラーテーマ（6色から選択）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7124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保存方法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1239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・入力後「保存する」ボタンをクリック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714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・変更は即座に全画面に反映される</a:t>
            </a:r>
          </a:p>
        </p:txBody>
      </p:sp>
      <p:pic>
        <p:nvPicPr>
          <p:cNvPr id="19" name="Picture 18" descr="11_settings_clinic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設定 — 営業時間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曜日ごとの受付時間・スロット間隔の設定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管理者向け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設定できる項目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・曜日ごとの営業ON/OFF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・診察開始・終了時間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579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・スロット間隔（例: 30分）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054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・最終受付の締め切り分数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30175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スロット生成ルール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・設定した間隔で自動生成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7764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・締め切り前のスロットは受付停止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28853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保存方法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・変更後「保存する」ボタンをクリック</a:t>
            </a:r>
          </a:p>
        </p:txBody>
      </p:sp>
      <p:pic>
        <p:nvPicPr>
          <p:cNvPr id="19" name="Picture 18" descr="12_settings_business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設定 — 休日設定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定休日・臨時休業日の管理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管理者向け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設定できる項目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・定休曜日（営業時間設定と連動）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・個別の休日日付を追加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22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休日の追加方法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・カレンダーから日付を選択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・「追加」ボタンでリストに登録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35935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休日の削除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0050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・登録済みの日付のゴミ箱アイコンで削除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51713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反映タイミング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9286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・保存後、患者側カレンダーに即反映</a:t>
            </a:r>
          </a:p>
        </p:txBody>
      </p:sp>
      <p:pic>
        <p:nvPicPr>
          <p:cNvPr id="19" name="Picture 18" descr="13_settings_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設定 — お知らせ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患者向けのお知らせ文の掲載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管理者向け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・休診のご案内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・院内からのお知らせ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579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・注意事項の掲載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670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設定方法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・テキストエリアにお知らせ文を入力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・「表示する」をONにして保存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9410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表示場所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・患者側トップページの上部に表示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・非表示設定で一時的に隠せる</a:t>
            </a:r>
          </a:p>
        </p:txBody>
      </p:sp>
      <p:pic>
        <p:nvPicPr>
          <p:cNvPr id="19" name="Picture 18" descr="14_settings_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設定 — アカウント管理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CF0DE"/>
                </a:solidFill>
              </a:rPr>
              <a:t>メールアドレス・パスワードの変更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2952" y="109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管理者向け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68680"/>
            <a:ext cx="3931920" cy="5852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変更できる項目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・ログイン用メールアドレス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105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・ログイン用パスワード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225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パスワード変更手順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34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・現在のパスワードで再認証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・新しいパスワードを2回入力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・8文字以上で設定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94106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メールアドレス変更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525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・新しいアドレスに確認メールが届く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7000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・メール内のリンクで変更完了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5212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35763"/>
                </a:solidFill>
              </a:rPr>
              <a:t>セキュリティ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6235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3040"/>
                </a:solidFill>
              </a:rPr>
              <a:t>・変更時は必ず再認証が必要</a:t>
            </a:r>
          </a:p>
        </p:txBody>
      </p:sp>
      <p:pic>
        <p:nvPicPr>
          <p:cNvPr id="21" name="Picture 20" descr="15_settings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43025"/>
            <a:ext cx="7845552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3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ご利用にあたって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54864"/>
          </a:xfrm>
          <a:prstGeom prst="rect">
            <a:avLst/>
          </a:prstGeom>
          <a:solidFill>
            <a:srgbClr val="F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03120" cy="64008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患者向け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71600"/>
            <a:ext cx="9144000" cy="640080"/>
          </a:xfrm>
          <a:prstGeom prst="rect">
            <a:avLst/>
          </a:prstGeom>
          <a:solidFill>
            <a:srgbClr val="5A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</a:rPr>
              <a:t>PC・スマートフォン両対応。最新のブラウザ（Chrome / Safari）を推奨します。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103120" cy="64008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予約確認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240280"/>
            <a:ext cx="9144000" cy="640080"/>
          </a:xfrm>
          <a:prstGeom prst="rect">
            <a:avLst/>
          </a:prstGeom>
          <a:solidFill>
            <a:srgbClr val="5A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2402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</a:rPr>
              <a:t>予約完了後、入力されたメールアドレスに確認メールが送信されます。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2103120" cy="64008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キャンセル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108960"/>
            <a:ext cx="9144000" cy="640080"/>
          </a:xfrm>
          <a:prstGeom prst="rect">
            <a:avLst/>
          </a:prstGeom>
          <a:solidFill>
            <a:srgbClr val="5A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10896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</a:rPr>
              <a:t>確認メール内のキャンセルリンク、またはキャンセルページから手続きできます。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2103120" cy="64008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管理者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977640"/>
            <a:ext cx="9144000" cy="640080"/>
          </a:xfrm>
          <a:prstGeom prst="rect">
            <a:avLst/>
          </a:prstGeom>
          <a:solidFill>
            <a:srgbClr val="5A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97764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</a:rPr>
              <a:t>管理者アカウントの新規作成は Firebase コンソールから行います。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2103120" cy="640080"/>
          </a:xfrm>
          <a:prstGeom prst="rect">
            <a:avLst/>
          </a:prstGeom>
          <a:solidFill>
            <a:srgbClr val="F79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お問い合わせ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846320"/>
            <a:ext cx="9144000" cy="640080"/>
          </a:xfrm>
          <a:prstGeom prst="rect">
            <a:avLst/>
          </a:prstGeom>
          <a:solidFill>
            <a:srgbClr val="5A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84632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CF0DE"/>
                </a:solidFill>
              </a:rPr>
              <a:t>システムに関するお問い合わせは管理者までご連絡ください。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Online Appointment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