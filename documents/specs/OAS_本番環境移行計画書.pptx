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73152" cy="2743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B7C9E"/>
                </a:solidFill>
                <a:latin typeface="Noto Sans JP"/>
              </a:rPr>
              <a:t>オンライン予約システム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JP"/>
              </a:rPr>
              <a:t>本番環境移行計画書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F37"/>
                </a:solidFill>
                <a:latin typeface="Noto Sans JP"/>
              </a:rPr>
              <a:t>Production Environment Migration Plan 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4A"/>
                </a:solidFill>
                <a:latin typeface="Noto Sans JP"/>
              </a:rPr>
              <a:t>対象: 開発者・納品担当者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1A2B4A"/>
                </a:solidFill>
                <a:latin typeface="Noto Sans JP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移行計画書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577840" cy="1143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Noto Sans JP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97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4A"/>
                </a:solidFill>
                <a:latin typeface="Noto Sans JP"/>
              </a:rPr>
              <a:t>現状環境の整理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ボス個人アカウントで運用中のサービス一覧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5577840" cy="1143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097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Noto Sans JP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097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4A"/>
                </a:solidFill>
                <a:latin typeface="Noto Sans JP"/>
              </a:rPr>
              <a:t>必要な契約・アカウント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087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クライアント側で準備すべきサービス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5577840" cy="1143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Noto Sans JP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377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4A"/>
                </a:solidFill>
                <a:latin typeface="Noto Sans JP"/>
              </a:rPr>
              <a:t>予算見積もり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788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従量課金サービスのコスト試算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286000"/>
            <a:ext cx="5577840" cy="1143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Noto Sans JP"/>
              </a:rP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377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4A"/>
                </a:solidFill>
                <a:latin typeface="Noto Sans JP"/>
              </a:rPr>
              <a:t>推奨環境構築手順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7889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Firebase プロジェクト初期設定の推奨例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5577840" cy="1143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Noto Sans JP"/>
              </a:rPr>
              <a:t>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657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4A"/>
                </a:solidFill>
                <a:latin typeface="Noto Sans JP"/>
              </a:rPr>
              <a:t>移行チェックリスト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0690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Phase 1〜4 の作業手順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566160"/>
            <a:ext cx="5577840" cy="1143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Noto Sans JP"/>
              </a:rPr>
              <a:t>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657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4A"/>
                </a:solidFill>
                <a:latin typeface="Noto Sans JP"/>
              </a:rPr>
              <a:t>リスクと対策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0690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移行時のリスク一覧・回避策・ロールバック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46320"/>
            <a:ext cx="5577840" cy="1143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Noto Sans JP"/>
              </a:rPr>
              <a:t>7.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937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2B4A"/>
                </a:solidFill>
                <a:latin typeface="Noto Sans JP"/>
              </a:rPr>
              <a:t>データ移行方針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349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Firestore / Auth / Secrets の移行手順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4AF37"/>
                </a:solidFill>
                <a:latin typeface="Noto Sans JP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現状環境の整理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現在のサービス構成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ボス個人アカウントで運用中のリソース一覧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現状環境の整理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9E"/>
                </a:solidFill>
                <a:latin typeface="Noto Sans JP"/>
              </a:rPr>
              <a:t>現在、すべてのサービスは開発者（個人）のアカウントで運用されています。</a:t>
            </a:r>
          </a:p>
          <a:p>
            <a:pPr algn="l"/>
            <a:r>
              <a:rPr sz="1400" b="0">
                <a:solidFill>
                  <a:srgbClr val="6B7C9E"/>
                </a:solidFill>
                <a:latin typeface="Noto Sans JP"/>
              </a:rPr>
              <a:t>本番リリースに際して、クライアント（医院）名義のアカウントへ移管が必要です。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13716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109728" cy="13716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ドメイン / DNS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916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kojinius.jp（開発者個人ドメイン）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Cloudflare にて管理。</a:t>
            </a:r>
          </a:p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oas.kojinius.jp が現在の公開URL。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13716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109728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Firebase / GCP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200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project-3040e21e-879f-4c66-a7d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118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開発者の Google アカウントに紐づく Firebase プロジェクト。</a:t>
            </a:r>
          </a:p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Auth / Firestore / Functions / Hosting すべて同一プロジェクト。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17720"/>
            <a:ext cx="11247120" cy="13716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109728" cy="13716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Resend（メール配信）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7091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開発者の Resend アカウント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1206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予約確認メール・リマインダーメール・キャンセル通知に使用。</a:t>
            </a:r>
          </a:p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API キーは Cloud Functions の Secret Manager に格納。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4AF37"/>
                </a:solidFill>
                <a:latin typeface="Noto Sans JP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必要な契約・アカウント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ドメイン / DNS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Firebase / GCP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Resend（メール配信）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必要な契約・アカウント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C9E"/>
                </a:solidFill>
                <a:latin typeface="Noto Sans JP"/>
              </a:rPr>
              <a:t>クライアント（医院）側で以下を準備してください。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1097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① 独自ドメイン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44752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例: fukumoto-acupuncture.jp などクリニック名のドメイン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お名前.com / Cloudflare Registrar で取得。</a:t>
            </a:r>
          </a:p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.jp: 約 ¥1,500〜2,000/年　　.com: 約 ¥1,000〜1,500/年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78608"/>
            <a:ext cx="11247120" cy="109728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78608"/>
            <a:ext cx="109728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517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② Google アカウント（医院専用）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51760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例: admin@gmail.com（または Google Workspace ビジネスメール）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3580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このアカウントで Firebase プロジェクトを作成。個人の Google アカウントと混在しないよう医院専用を推奨。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85616"/>
            <a:ext cx="11247120" cy="109728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85616"/>
            <a:ext cx="109728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587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③ Firebase プロジェクト（Blaze プラン）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858768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Google アカウントにクレジットカードを登録し Blaze（従量課金）プランを有効化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4281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Cloud Functions の使用には Blaze プランが必須。無料枠内で収まる見込みのため実質課金なし（後述）。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92624"/>
            <a:ext cx="11247120" cy="109728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992624"/>
            <a:ext cx="109728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657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④ Resend アカウント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065776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https://resend.com で無料登録 → 独自ドメインを認証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44982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予約確認・リマインダー・キャンセル通知メールの送信に使用。Free プランで月 3,000 通まで無料。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4AF37"/>
                </a:solidFill>
                <a:latin typeface="Noto Sans JP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予算見積もり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サービス別月額費用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スケール別コスト試算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予算見積もり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想定: 月50〜200予約の小規模クリニック　　（Firebase Blaze プランの無料枠基準）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583680" cy="50292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4A"/>
                </a:solidFill>
                <a:latin typeface="Noto Sans JP"/>
              </a:rPr>
              <a:t>サービス別 月額費用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Firebase Hosting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JP"/>
              </a:rPr>
              <a:t>無料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10GB / 360MB/日（無料枠内）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7802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Firestore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7802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JP"/>
              </a:rPr>
              <a:t>無料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7802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読取 50,000回/日・書込 20,000回/日（無料枠内）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9008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Cloud Functions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9008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JP"/>
              </a:rPr>
              <a:t>無料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9008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呼出 200万回/月・400,000 GB-秒（無料枠内）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0215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Firebase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502152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JP"/>
              </a:rPr>
              <a:t>無料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0215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10,000 MAU まで無料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1421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Resend（Free）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01421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JP"/>
              </a:rPr>
              <a:t>無料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1421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月 3,000 通 / 100 通/日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52628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ドメイン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52628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JP"/>
              </a:rPr>
              <a:t>約 ¥125/月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2628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年契約 ¥1,500/年 を月割換算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3834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4A"/>
                </a:solidFill>
                <a:latin typeface="Noto Sans JP"/>
              </a:rPr>
              <a:t>Secret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038344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B7C9E"/>
                </a:solidFill>
                <a:latin typeface="Noto Sans JP"/>
              </a:rPr>
              <a:t>ほぼ無料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03834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アクセス 10,000回/月まで無料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641848"/>
            <a:ext cx="62179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7332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4A"/>
                </a:solidFill>
                <a:latin typeface="Noto Sans JP"/>
              </a:rPr>
              <a:t>合計（月額）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7332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B4A"/>
                </a:solidFill>
                <a:latin typeface="Noto Sans JP"/>
              </a:rPr>
              <a:t>¥0〜¥500 程度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1371600"/>
            <a:ext cx="4572000" cy="50292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14630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B4A"/>
                </a:solidFill>
                <a:latin typeface="Noto Sans JP"/>
              </a:rPr>
              <a:t>スケール別 月額試算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1965960"/>
            <a:ext cx="4206240" cy="1325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2057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Noto Sans JP"/>
              </a:rPr>
              <a:t>小規模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月 50 予約以下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24688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B4A"/>
                </a:solidFill>
                <a:latin typeface="Noto Sans JP"/>
              </a:rPr>
              <a:t>¥0〜¥200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2926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※ ドメイン代のみ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3429000"/>
            <a:ext cx="4206240" cy="1325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35204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Noto Sans JP"/>
              </a:rPr>
              <a:t>中規模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520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月 100〜300 予約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3931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B4A"/>
                </a:solidFill>
                <a:latin typeface="Noto Sans JP"/>
              </a:rPr>
              <a:t>¥0〜¥500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389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※ ほぼ無料枠内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4892040"/>
            <a:ext cx="4206240" cy="1325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49834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Noto Sans JP"/>
              </a:rPr>
              <a:t>大規模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983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C9E"/>
                </a:solidFill>
                <a:latin typeface="Noto Sans JP"/>
              </a:rPr>
              <a:t>月 1,000 予約以上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53949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B4A"/>
                </a:solidFill>
                <a:latin typeface="Noto Sans JP"/>
              </a:rPr>
              <a:t>¥500〜2,000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5852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※ Functions 超過分が発生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4AF37"/>
                </a:solidFill>
                <a:latin typeface="Noto Sans JP"/>
              </a:rPr>
              <a:t>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推奨環境構築手順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Firebase プロジェクト作成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Blaze プラン設定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Secret Manager 設定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推奨環境構築手順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以下の手順で Firebase プロジェクトを新規作成し、本番環境を構築してください。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669280" cy="196596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1965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81328"/>
            <a:ext cx="914400" cy="2926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4630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Google Cloud プロジェクト作成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① https://console.firebase.google.com/ にアクセス</a:t>
            </a:r>
          </a:p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② 「プロジェクトを追加」→ プロジェクト名を入力（例: fukumoto-oas）</a:t>
            </a:r>
          </a:p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③ Google アナリティクスは任意（不要なら無効化 OK）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669280" cy="196596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109728" cy="1965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1481328"/>
            <a:ext cx="914400" cy="2926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4630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Blaze プランへのアップグレード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① Firebase Console → 左下「プランをアップグレード」→ Blaze を選択</a:t>
            </a:r>
          </a:p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② クレジットカードを登録（Cloud Functions 使用に必須）</a:t>
            </a:r>
          </a:p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③ 予算アラートを設定（例: ¥1,000/月 で通知）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5669280" cy="196596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109728" cy="1965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84448"/>
            <a:ext cx="914400" cy="2926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5661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必要サービスの有効化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2336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Authentication（メール/パスワード認証を有効化）</a:t>
            </a:r>
          </a:p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Firestore Database（本番モードで作成 → rules は移行後に適用）</a:t>
            </a:r>
          </a:p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Functions（Node.js 24 / 2nd Gen）　　Hosting（2 サイト: portfolio / oas）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474720"/>
            <a:ext cx="5669280" cy="196596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474720"/>
            <a:ext cx="109728" cy="1965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60" y="3584448"/>
            <a:ext cx="91440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5661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Secret Manager の設定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02336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① Google Cloud Console → Secret Manager → 「シークレットを作成」</a:t>
            </a:r>
          </a:p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② 名前: resendApiKey　　値: Resend の API キーを貼り付け</a:t>
            </a:r>
          </a:p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③ Cloud Functions のサービスアカウントにアクセス権を付与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4AF37"/>
                </a:solidFill>
                <a:latin typeface="Noto Sans JP"/>
              </a:rPr>
              <a:t>Section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移行チェックリスト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Phase 1: 契約・準備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Phase 2: コード・設定移行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Phase 3: データ移行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Phase 4: 動作確認・本番切替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移行チェックリスト — Phase 1: 契約・準備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Section 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01168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960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本番移行前にクライアント側で準備が必要な契約・設定事項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独自ドメインを取得する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医院専用の Google アカウントを作成する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8541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Firebase プロジェクトを作成する（新規）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865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project ID をメモしておく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5234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Blaze プランにアップグレードする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535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クレジットカード登録が必要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予算アラートを設定する（推奨: ¥1,000/月）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4173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Resend アカウントを作成する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184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https://resend.com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842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Resend で独自ドメインを認証する（SPF/DKIM）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8541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DNS レコード追加が必要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5117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Resend API キーを発行する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3522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Secret Manager に resendApiKey を登録する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1927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Firebase Hosting にカスタムドメインを設定する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移行チェックリスト — Phase 2: コード・設定移行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Section 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01168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960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ソースコードの接続先を新プロジェクトに切り替え、Firebase 設定を適用する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firebase.json の project ID を更新する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184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新プロジェクト ID に変更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842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.firebaserc の default プロジェクトを更新する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6829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oas-spa/src/firebase.ts の firebaseConfig を更新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946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Console &gt; プロジェクトの設定 &gt; アプリ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3522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Firebase Authentication を有効化する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3639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メール/パスワード認証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0215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Firestore をセキュリティルールごとデプロイする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firebase deploy --only firestore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4173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Firebase Hosting をデプロイする（oas）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6184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firebase deploy --only hosting:oas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842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Cloud Functions をデプロイする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8541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firebase deploy --only functions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55117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Firestore インデックスをデプロイする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75234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firebase deploy --only firestore:indexes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11810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カスタムドメインの DNS 伝播を確認する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3192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nslookup / dig で確認（最大48時間）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68503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HTTPS アクセスを確認する（SSL証明書）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8620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Firebase Hosting が自動発行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移行チェックリスト — Phase 3: データ移行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Section 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011680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Phase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960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既存の Firestore / Auth データを新プロジェクトへ移管する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Firestore データ移行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① 旧プロジェクトでメンテナンスモードを有効化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② GCS バケットを作成（例: gs://fukumoto-backup）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36976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③ エクスポート実行:</a:t>
            </a:r>
          </a:p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   gcloud firestore export gs://[bucket]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95344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④ 新プロジェクトにインポート:</a:t>
            </a:r>
          </a:p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   gcloud firestore import gs://[bucket]/[export-prefix]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5371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⑤ データ整合性を確認（件数・内容チェック）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371600"/>
            <a:ext cx="5760720" cy="246888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463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Firebase Auth ユーザー移行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920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① エクスポート: firebase auth:export users.json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042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② 新プロジェクトでインポート: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883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   firebase auth:import users.json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0723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③ UID が同一のため Firestore との紐付け維持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4564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④ 移行後にパスワード変更を促す（推奨）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977639"/>
            <a:ext cx="5760720" cy="237744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069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Secrets / 設定値の移行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537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① 旧プロジェクトの Secret Manager から resendApiKey の値を取得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9560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② 新プロジェクトの Secret Manager に同名で登録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3583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③ Cloud Functions デプロイ時に新 Secret が参照されること確認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760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④ 旧プロジェクトの Secret は移行確認後に削除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移行チェックリスト — Phase 4: 動作確認・本番切替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Section 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01168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Phase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960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本番切替前の最終確認と DNS 切替手順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予約フロー End-to-End テストを実施する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184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患者側: 日程選択→入力→完了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842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管理者ログイン・ダッシュボード確認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8541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予約一覧・詳細モーダル・CSV出力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5117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メール送信テスト（確認/リマインダー/キャンセル）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5234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実際のメールアドレスで受信確認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1810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問診票フォームの動作確認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92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/questionnaire?bookingId=xxx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8503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診察完了・診察履歴の記録確認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6908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モバイル（スマホ）での表示確認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702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患者側・管理者ナビ両方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DNS の TTL を短くする（推奨: 300秒）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6184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切替後の反映を早くするため事前に設定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842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旧 URL からのリダイレクト確認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8541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/login.html → /login など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5117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DNS CNAME を新 Firebase Hosting に切替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75234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タイミングは業務時間外を推奨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11810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SSL 証明書の自動発行を確認（〜数時間）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50215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切替後 24 時間の動作モニタリング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7033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Firebase Console &gt; Crashlytics / Logging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6908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B4A"/>
                </a:solidFill>
                <a:latin typeface="Noto Sans JP"/>
              </a:rPr>
              <a:t>□  旧プロジェクトのリソースを停止・削除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2702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     → 移行確認後 1 週間以上経過してから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4AF37"/>
                </a:solidFill>
                <a:latin typeface="Noto Sans JP"/>
              </a:rPr>
              <a:t>Section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リスクと対策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DNS 切替ダウンタイム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データ不整合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メール認証未完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Auth UID 問題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リスクと対策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Section 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09728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078992"/>
            <a:ext cx="82296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060704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DNS 切替時のダウンタイム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81328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対策: TTL を事前に短縮（300秒）。切替は予約の少ない時間帯（深夜）に実施。</a:t>
            </a:r>
          </a:p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切替前にメンテナンスバナーで患者に事前告知。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8132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RB: DNS を旧設定に戻す（TTL=300秒 なら約5分で復旧）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11247120" cy="128016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95728"/>
            <a:ext cx="109728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468880"/>
            <a:ext cx="82296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450592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データ移行時の不整合・欠損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71216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対策: エクスポート前にメンテナンスモード ON（新規書き込みを防止）。</a:t>
            </a:r>
          </a:p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移行後は件数・内容の整合性チェックを実施（件数比較）。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7121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RB: 旧プロジェクトのバックアップから再エクスポート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85616"/>
            <a:ext cx="11247120" cy="128016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85616"/>
            <a:ext cx="109728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858768"/>
            <a:ext cx="82296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840480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メール送信失敗（Resend 認証未完）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61104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対策: DNS 切替前に Resend のドメイン認証（SPF/DKIM/DMARC）を完全に完了させる。</a:t>
            </a:r>
          </a:p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テスト送信で確認後に本番切替。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6110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RB: 一時的に旧プロジェクトの Resend アカウントを流用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75504"/>
            <a:ext cx="11247120" cy="128016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175504"/>
            <a:ext cx="109728" cy="1280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248656"/>
            <a:ext cx="82296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230368"/>
            <a:ext cx="9784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Firebase Auth UID 不一致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650992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対策: firebase auth:export/import を使用することで UID は保持される。</a:t>
            </a:r>
          </a:p>
          <a:p>
            <a:pPr algn="l"/>
            <a:r>
              <a:rPr sz="1100" b="0">
                <a:solidFill>
                  <a:srgbClr val="1A2B4A"/>
                </a:solidFill>
                <a:latin typeface="Noto Sans JP"/>
              </a:rPr>
              <a:t>Firestore との参照は UID 固定のため自動的に維持。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6509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RB: 手動マッピングは不要（export/import で解消）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4AF37"/>
                </a:solidFill>
                <a:latin typeface="Noto Sans JP"/>
              </a:rPr>
              <a:t>Section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データ移行方針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Firestore コレクション別移行方針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Firebase Auth 移行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Secrets 移行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データ移行方針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Section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</a:rPr>
              <a:t>コレクション別 移行方針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286000" cy="31089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081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JP"/>
              </a:rPr>
              <a:t>コレクション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371600"/>
            <a:ext cx="2011680" cy="31089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408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JP"/>
              </a:rPr>
              <a:t>用途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371600"/>
            <a:ext cx="1097280" cy="31089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4081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JP"/>
              </a:rPr>
              <a:t>方針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486400" cy="31089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4081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JP"/>
              </a:rPr>
              <a:t>注記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82496"/>
            <a:ext cx="11247120" cy="56692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7922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4A"/>
                </a:solidFill>
                <a:latin typeface="Noto Sans JP"/>
              </a:rPr>
              <a:t>reservations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7922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予約データ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792224"/>
            <a:ext cx="91440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移行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7739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完全移行（全フィールド）。移行前に status='cancelled' のものを除外するかクライアントと合意。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276856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865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4A"/>
                </a:solidFill>
                <a:latin typeface="Noto Sans JP"/>
              </a:rPr>
              <a:t>slots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3865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時間枠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386584"/>
            <a:ext cx="91440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移行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36829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完全移行。ただし過去分（date &lt; 移行日）は不要な場合は除外 OK。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11247120" cy="56692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809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4A"/>
                </a:solidFill>
                <a:latin typeface="Noto Sans JP"/>
              </a:rPr>
              <a:t>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29809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管理者アカウント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980944"/>
            <a:ext cx="914400" cy="29260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再作成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96265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Auth 移行後に Firestore ドキュメントも連動。UID は保持されるため参照は維持。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65576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753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4A"/>
                </a:solidFill>
                <a:latin typeface="Noto Sans JP"/>
              </a:rPr>
              <a:t>visit_histories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35753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診察履歴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575304"/>
            <a:ext cx="91440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移行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55701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完全移行（改ざん防止のため全件）。APPI の保存義務あり。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59936"/>
            <a:ext cx="11247120" cy="56692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1696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4A"/>
                </a:solidFill>
                <a:latin typeface="Noto Sans JP"/>
              </a:rPr>
              <a:t>questionnaires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1696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問診票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169664"/>
            <a:ext cx="91440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移行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15137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完全移行。bookingId で予約と紐付けられているため整合性確認。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654296"/>
            <a:ext cx="11247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7640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4A"/>
                </a:solidFill>
                <a:latin typeface="Noto Sans JP"/>
              </a:rPr>
              <a:t>access_logs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476402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アクセスログ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4764024"/>
            <a:ext cx="9144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任意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7457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監査目的のため移行推奨。ただし容量が大きい場合は移行日以降のみでも可。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248656"/>
            <a:ext cx="11247120" cy="566928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3583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B4A"/>
                </a:solidFill>
                <a:latin typeface="Noto Sans JP"/>
              </a:rPr>
              <a:t>settings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53583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院の設定情報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0" y="5358384"/>
            <a:ext cx="91440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移行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34009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C9E"/>
                </a:solidFill>
                <a:latin typeface="Noto Sans JP"/>
              </a:rPr>
              <a:t>clinic / terms / announcement ドキュメントを完全移行。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 JP"/>
              </a:rPr>
              <a:t>移行作業における注意事項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5EE"/>
                </a:solidFill>
                <a:latin typeface="Noto Sans JP"/>
              </a:rPr>
              <a:t>▶  移行作業は必ず予約の少ない時間帯（深夜〜早朝）に実施してください。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5EE"/>
                </a:solidFill>
                <a:latin typeface="Noto Sans JP"/>
              </a:rPr>
              <a:t>▶  各 Phase の作業前後に Firestore と Auth のバックアップ（エクスポート）を取得してください。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5EE"/>
                </a:solidFill>
                <a:latin typeface="Noto Sans JP"/>
              </a:rPr>
              <a:t>▶  DNS 切替後 48 時間は旧プロジェクトを停止せず、ロールバック可能な状態を維持してください。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5EE"/>
                </a:solidFill>
                <a:latin typeface="Noto Sans JP"/>
              </a:rPr>
              <a:t>▶  本資料に記載のコマンドは新プロジェクト ID に読み替えて実行してください。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  <a:latin typeface="Noto Sans JP"/>
              </a:rPr>
              <a:t>ご不明な点は担当エンジニアまでお問い合わせください。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