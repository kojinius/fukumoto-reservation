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112745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Noto Sans JP"/>
              </a:rPr>
              <a:t>Online Appointment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8F5EE"/>
                </a:solidFill>
                <a:latin typeface="Noto Sans JP"/>
              </a:rPr>
              <a:t>管理画面 UI 仕様書 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8F5EE"/>
                </a:solidFill>
                <a:latin typeface="Noto Sans JP"/>
              </a:rPr>
              <a:t>2026年3月  |  管理者向け各画面コンポーネント・バリデーション仕様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51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Noto Sans JP"/>
              </a:rPr>
              <a:t>認証・アカウント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0515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ログイン / パスワード変更強制フロー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1274552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5270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Noto Sans JP"/>
              </a:rPr>
              <a:t>ダッシュボード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52704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KPI カード / 検索・フィルター / 予約テーブル / 詳細モーダル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84248"/>
            <a:ext cx="11274552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48256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0253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Noto Sans JP"/>
              </a:rPr>
              <a:t>診察履歴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002536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履歴ページ / CSV出力 / 訂正機能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59736"/>
            <a:ext cx="11274552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23744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47802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Noto Sans JP"/>
              </a:rPr>
              <a:t>設定 — 基本情報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4780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院名・電話・URL・住所・Google Maps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35224"/>
            <a:ext cx="11274552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999232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9535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Noto Sans JP"/>
              </a:rPr>
              <a:t>設定 — 営業日設定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95351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タイムラインバー・AM/PM・休日・締切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10712"/>
            <a:ext cx="11274552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429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Noto Sans JP"/>
              </a:rPr>
              <a:t>設定 — お知らせ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4290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バナー設定・メンテナンスモード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86200"/>
            <a:ext cx="11274552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50208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904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Noto Sans JP"/>
              </a:rPr>
              <a:t>設定 — ポリシー・規約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90448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PP自動生成・要配慮同意・患者権利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361688"/>
            <a:ext cx="11274552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425696"/>
            <a:ext cx="457200" cy="3657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JP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3799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4A"/>
                </a:solidFill>
                <a:latin typeface="Noto Sans JP"/>
              </a:rPr>
              <a:t>設定 — アカウント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379976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C9E"/>
                </a:solidFill>
                <a:latin typeface="Noto Sans JP"/>
              </a:rPr>
              <a:t>管理者作成・メール変更・PW変更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837176"/>
            <a:ext cx="11274552" cy="18288"/>
          </a:xfrm>
          <a:prstGeom prst="rect">
            <a:avLst/>
          </a:prstGeom>
          <a:solidFill>
            <a:srgbClr val="6B7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1. 認証・アカウント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ログイン画面（メール / パスワード / バリデーション / パスワードトグル）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パスワード変更強制フロー（mustChangePassword / isStrongPassword）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利用規約・PP 同意モーダル（ConsentModal / バージョン管理）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ログイン画面仕様（/login）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UIコンポーネント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ページ構成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・&lt;LoginLayout&gt; ── 中央寄せ白カード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・ロゴ（院名頭文字アイコン）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・タイトル「管理者ログイン」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入力フィールド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・メールアドレス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type=email / 必須 / オートコンプリート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・パスワード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&lt;PasswordInput&gt; / 表示トグル付き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必須 / minLength=8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ボタン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・ログイン（primary / full-width）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loading 中はスピナー表示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リンク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・パスワードをお忘れですか？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sendPasswordResetEmail()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バリデーション・エラー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クライアント側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・メール形式チェック（isValidEmail）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連続ドット・末尾ドット拒否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・パスワード空欄チェック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Firebase Auth エラーハンドリング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・auth/wrong-password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「メール・パスワードが違います」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・auth/user-not-found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「メール・パスワードが違います」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（列挙攻撃防止のため同一文言）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・auth/too-many-requests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「しばらく後にお試しください」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セッション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・browserSessionPersistence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タブ閉じでセッション消滅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同意モーダル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・未同意時: &lt;ConsentModal&gt; でブロッキング表示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TOS / PP 全文表示 → 同意ボタン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パスワード変更強制フロー（/admin/change-password）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pic>
        <p:nvPicPr>
          <p:cNvPr id="6" name="Picture 5" descr="19_change_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トリガー条件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・users/{uid}.mustChangePassword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== true のとき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・AdminLayout が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?forced=1 付きで強制リダイレクト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UIコンポーネント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・現在のパスワード入力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&lt;PasswordInput&gt; / 必須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・新しいパスワード入力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&lt;PasswordInput&gt; / 必須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・確認パスワード入力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&lt;PasswordInput&gt; / 必須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バリデーション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・isStrongPassword()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大文字・小文字・数字・記号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各1文字以上 / 8〜128文字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・新旧パスワード一致チェック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完了後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・mustChangePassword = false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・/admin へリダイレクト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2. ダッシュボード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KPI カード（本日 / 今月 / 新規 / 未確認）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検索・フィルター（氏名 / 郵便番号 / 電話番号 / 日付 / ステータス）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予約テーブル列定義（8列 / ソート / ステータスバッジ）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予約詳細モーダル（表示フィールド / ステータス変更 / キャンセル / PDF）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KPI カード仕様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5661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5661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KPI カード 4種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① 本日の予約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カレンダーアイコン / 今日の件数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クリック → 日付フィルター適用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② 今月の予約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グラフアイコン / 当月合計件数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クリック → 月次フィルター適用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③ 新規患者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人物+プラスアイコン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visitType=='first' の件数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クリック → 初診フィルター適用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④ 未確認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時計アイコン / status=='pending' 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クリック → 未確認フィルター適用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バッジ数がヘッダーにも表示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05840"/>
            <a:ext cx="35661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35661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表示仕様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60020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・&lt;Card&gt; コンポーネント使用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bg=white / shadow-sm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・数値フォント: 32pt bold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・ラベル: 12pt muted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・アクティブ状態: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border-gold + shadow-gold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（選択中KPIを強調）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・再クリックでフィルター解除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・モバイル: 2×2 グリッド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(sm以上で横1行並び)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・ローディング中: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スケルトンアニメーション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05840"/>
            <a:ext cx="35661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05840"/>
            <a:ext cx="35661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051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データソース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00200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useKpis() hook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・reservations 配列を引数に取る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・todayCount: 今日の件数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・monthCount: 今月の件数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・newCount: 初診件数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・pendingCount: 未確認件数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usePendingCount() hook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・Firestore リアルタイム購読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・status=='pending' をリアルタイム監視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・ヘッダーバッジと連動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99件超は '99+' 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animate-pulse（アニメーション）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useReservations() hook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・onSnapshot でリアルタイム同期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・管理者ロール確認済みのみ取得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検索・フィルター仕様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検索フィールド（5種）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① 氏名検索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placeholder: 山田太郎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氏名・ふりがな部分一致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② 郵便番号検索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placeholder: 123-4567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zipSearch 状態で管理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③ 電話番号検索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placeholder: 090-1234-5678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phoneSearch 状態で管理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④ 診察予定日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type=date / dateFilter 状態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KPIカード「本日」と連動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⑤ 予約受付日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type=date / createdAtFilter 状態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・「クリア」ボタン: 全フィルター初期化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・「CSV出力」ボタン: フィルター適用後データ出力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ステータスフィルター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ボタングループ（5種）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・全て（デフォルト）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・未確認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・確認済み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・キャンセル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・診察完了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スタイル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・選択中: variant=primary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・非選択: variant=ghost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・size=sm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URL パラメータ連携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・?filter=pending でヘッダーバッジ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クリック時に自動フィルター適用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・useSearchParams() で管理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KPIフィルター（kpiFilter状態）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・today / month / new / pending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・KPIカードクリックで切り替え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・再クリックで解除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予約テーブル列定義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01168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69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列名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1005840"/>
            <a:ext cx="182880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1069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sortKey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005840"/>
            <a:ext cx="7132320" cy="41148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4256" y="1069848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Noto Sans JP"/>
              </a:rPr>
              <a:t>仕様・備考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201168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診察予定日時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1417320"/>
            <a:ext cx="182880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7168" y="1508760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datetime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2816" y="1417320"/>
            <a:ext cx="713232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1508760"/>
            <a:ext cx="6949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日時降順デフォルト / ソート可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47672"/>
            <a:ext cx="20116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039112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氏名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95728" y="1947672"/>
            <a:ext cx="1828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2039112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name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2816" y="1947672"/>
            <a:ext cx="71323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34256" y="2039112"/>
            <a:ext cx="6949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ふりがな順でソート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478024"/>
            <a:ext cx="201168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569464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初/再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2478024"/>
            <a:ext cx="182880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7168" y="2569464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visitType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42816" y="2478024"/>
            <a:ext cx="713232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2569464"/>
            <a:ext cx="6949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初診 / 再診 バッジ表示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08376"/>
            <a:ext cx="20116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099816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症状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95728" y="3008376"/>
            <a:ext cx="1828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87168" y="3099816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symptoms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42816" y="3008376"/>
            <a:ext cx="71323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6" y="3099816"/>
            <a:ext cx="6949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モーダルで全文表示 / クリック展開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538728"/>
            <a:ext cx="201168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630168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電話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3538728"/>
            <a:ext cx="182880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87168" y="3630168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phone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42816" y="3538728"/>
            <a:ext cx="713232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34256" y="3630168"/>
            <a:ext cx="6949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tel: リンク（電話発信）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069080"/>
            <a:ext cx="20116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160520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予約受付日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5728" y="4069080"/>
            <a:ext cx="1828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7168" y="4160520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createdAt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42816" y="4069080"/>
            <a:ext cx="71323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34256" y="4160520"/>
            <a:ext cx="6949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受付日降順 / ソート可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599432"/>
            <a:ext cx="201168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690872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ステータス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95728" y="4599432"/>
            <a:ext cx="182880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87168" y="4690872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status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42816" y="4599432"/>
            <a:ext cx="7132320" cy="530352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34256" y="4690872"/>
            <a:ext cx="6949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&lt;Badge&gt; コンポーネント / 色分け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129784"/>
            <a:ext cx="20116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221224"/>
            <a:ext cx="1828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操作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95728" y="5129784"/>
            <a:ext cx="1828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87168" y="5221224"/>
            <a:ext cx="16459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42816" y="5129784"/>
            <a:ext cx="713232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34256" y="5221224"/>
            <a:ext cx="69494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4A"/>
                </a:solidFill>
                <a:latin typeface="Noto Sans JP"/>
              </a:rPr>
              <a:t>「詳細」ボタン → 詳細モーダル表示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573328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C9E"/>
                </a:solidFill>
                <a:latin typeface="Noto Sans JP"/>
              </a:rPr>
              <a:t>ステータスバッジ色: pending=amber / confirmed=emerald / cancelled=red / completed=sky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予約詳細モーダル仕様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pic>
        <p:nvPicPr>
          <p:cNvPr id="6" name="Picture 5" descr="11_reservation_detail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表示フィールド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・予約番号（reservationId）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・診察予定日時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・氏名 / ふりがな / 年齢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・生年月日 / 郵便番号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・住所 / 電話番号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・メール / 性別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・初診/再診 / 保険証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・症状 / 伝達事項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・連絡方法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・ステータス / キャンセル情報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・予約受付日 / 診察完了日時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アクション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・確認済みにする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status: confirmed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・診察完了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completeVisit() CF 呼び出し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visit_histories に保存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・問診票PDF ダウンロード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pdf-lib で生成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・キャンセル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キャンセル理由選択必須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cancelReservation CF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・閉じる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3. 診察履歴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診察履歴ページ（検索 / ページネーション / CSV出力 / 訂正機能）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訂正機能（APPI 第34条 / corrections サブコレクション / immutable）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診察履歴ページ仕様（/admin/history）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pic>
        <p:nvPicPr>
          <p:cNvPr id="6" name="Picture 5" descr="12_history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検索フィールド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・氏名（部分一致）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・郵便番号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・電話番号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・診察日 From / To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テーブル列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・診療日時（sortable）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・氏名（sortable）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・初/再（visitType）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・電話番号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・詳細 / 訂正 ボタン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ページネーション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・20件/ページ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・「件」サフィックス表示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CSV出力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・フィルター適用済みデータ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・ファイル名: 診察履歴_{日付}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訂正機能（APPI第34条）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・correctVisitHistory CF 呼び出し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・corrections サブコレクションに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immutable な訂正記録を追加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・訂正理由必須入力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JP"/>
              </a:rPr>
              <a:t>4. 設定画面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基本情報タブ（院名 / 電話 / URL / 住所 / 郵便番号自動補完 / Google Maps）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営業日設定タブ（タイムラインバー / AM・PM / 休日管理 / キャンセル締切）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お知らせタブ（バナー設定 / メンテナンスモード）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ポリシー・利用規約タブ（PP自動生成 / 要配慮同意文言 / 患者権利窓口）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5EE"/>
                </a:solidFill>
                <a:latin typeface="Noto Sans JP"/>
              </a:rPr>
              <a:t>  アカウントタブ（管理者作成 / マスク表示 / パスワード変更）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設定 — 基本情報タブ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pic>
        <p:nvPicPr>
          <p:cNvPr id="6" name="Picture 5" descr="13_settings_basic_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入力フィールド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・院名 *（clinicName）必須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バリデーション: 空欄NG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・電話番号 *（phone）必須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バリデーション: 空欄NG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・WebサイトURL（websiteUrl）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任意 / type=url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・郵便番号（zip）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入力後に住所自動補完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zipcloud API 使用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・都道府県・市区町村・番地 *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address / 必須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・建物名・号室（addressSub）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任意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Google Maps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・「所在地マップ」&lt;iframe&gt;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clinicName をクエリに埋め込み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frame-src: google.com/maps (CSP)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保存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・画面上部「保存」ボタン共通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・Firestore settings/clinic に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merge: true で保存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設定 — 営業日設定タブ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pic>
        <p:nvPicPr>
          <p:cNvPr id="6" name="Picture 5" descr="14_settings_business_d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タイムラインバー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・午前診療 / 午後診療 の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グラフィカルバー表示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・各 AM/PM: ON/OFF トグル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AM/PM 時刻設定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・AM: 6:00〜12:00 (30分刻み)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・PM: 13:00〜22:00 (30分刻み)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・開始 &lt; 終了 バリデーション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超えると「開始が終了以降」エラー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曜日別設定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・日〜土 7曜日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各々「営業」/「休診」トグル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・土日→休診 / 土日→診療 一括ボタン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休日管理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・カレンダークリックで休日追加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・「祝日を自動取得」ボタン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holidays-jp API 使用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・「クリア」で全休日削除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・予約がある日を休日設定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確認ダイアログ表示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キャンセル締切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・診療開始のX分前まで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cancelCutoffMinutes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設定 — お知らせタブ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pic>
        <p:nvPicPr>
          <p:cNvPr id="6" name="Picture 5" descr="15_settings_announ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お知らせバナー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・表示中 / 非表示 バッジ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・種別セレクト: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お知らせ / 注意 / メンテナンス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・メッセージ テキスト入力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・表示開始日時（datetime-local）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・表示終了日時（datetime-local）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・バリデーション: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開始 &gt; 終了 → エラートースト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・「クリア」ボタン: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バナー内容を全クリア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メンテナンスモード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・ON にすると管理者以外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全ページアクセス不可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・メンテナンス開始日時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・メンテナンス終了日時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・バリデーション: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開始 &gt; 終了 → エラートースト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・警告文表示: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「管理者以外アクセス不可に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なります」（Alert コンポーネント）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設定 — ポリシー・利用規約タブ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利用規約タブ（terms）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フィールド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・利用規約テキスト (Textarea)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管理者が初回ログイン時に同意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バージョン管理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・バージョン更新ボタン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v{current} → v{next}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全管理者が次回ログイン時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に再同意を求められる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自動生成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・未入力時: 「自動生成」ボタン表示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院名・電話から自動生成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・「基本情報から再生成」リンク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手動編集内容上書き警告あり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ポリシータブ（policy）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・プライバシーポリシーテキスト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・要配慮個人情報の同意文言 (500文字)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・データ保存期間ポリシー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（3年推奨 / 無期限〜5年選択肢）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・個人情報の利用目的（APPI第17条）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・リマインダーメール機能 ON/OFF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05840"/>
            <a:ext cx="539496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005840"/>
            <a:ext cx="53949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JP"/>
              </a:rPr>
              <a:t>患者権利行使（APPI第28〜30条）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1206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patientRights フィールド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・問い合わせ先・手続き案内 (Textarea)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・予約完了画面・PPに表示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法的根拠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・個人情報保護法 第28条: 開示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・個人情報保護法 第29条: 訂正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・個人情報保護法 第30条: 利用停止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診察履歴の特別扱い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・診察履歴はデータ保存期間対象外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医療記録として永久保持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PPに告知する旨の注意文表示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リマインダーメール設定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・機能有効/無効トグル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・有効時: 予約フォームに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「リマインダーメールを受け取る」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同意チェックが表示される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・HMAC-SHA256 opt-out トークン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optOutReminder CF で処理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スクリーンショット参照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・16_settings_terms.png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・17_settings_policy.png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Noto Sans JP"/>
              </a:rPr>
              <a:t>設定 — アカウントタブ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32720" y="182880"/>
            <a:ext cx="164592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A2B4A"/>
                </a:solidFill>
                <a:latin typeface="Noto Sans JP"/>
              </a:rPr>
              <a:t>管理画面</a:t>
            </a:r>
          </a:p>
        </p:txBody>
      </p:sp>
      <p:pic>
        <p:nvPicPr>
          <p:cNvPr id="6" name="Picture 5" descr="18_settings_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3152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55279" y="1005840"/>
            <a:ext cx="3931920" cy="5303520"/>
          </a:xfrm>
          <a:prstGeom prst="rect">
            <a:avLst/>
          </a:prstGeom>
          <a:solidFill>
            <a:srgbClr val="F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39" y="1188720"/>
            <a:ext cx="3657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新規ユーザー作成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・メールアドレス入力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type=email / 必須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isValidEmail() バリデーション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・パスワード入力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&lt;PasswordInput&gt; / 必須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8〜128文字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大文字・小文字・数字・記号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各1文字以上（isStrongPassword）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・「作成」ボタン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createAdminUser CF 呼び出し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mustChangePassword=true 設定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初回ログイン時PW変更強制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・ユーザー上限: 10名まで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ユーザー一覧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・メール（マスク表示 [SEC-6]）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例: ad***@example.com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・作成日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・削除ボタン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自分自身は削除不可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確認ダイアログあり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→ deleteUser CF 呼び出し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## パスワード変更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・/admin/change-password</a:t>
            </a:r>
          </a:p>
          <a:p>
            <a:pPr algn="l">
              <a:lnSpc>
                <a:spcPts val="2200"/>
              </a:lnSpc>
            </a:pPr>
            <a:r>
              <a:rPr sz="1300" b="0">
                <a:solidFill>
                  <a:srgbClr val="1A2B4A"/>
                </a:solidFill>
                <a:latin typeface="Noto Sans JP"/>
              </a:rPr>
              <a:t>  へのリンク表示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11274552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Noto Sans JP"/>
              </a:rPr>
              <a:t>Online Appointment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8F5EE"/>
                </a:solidFill>
                <a:latin typeface="Noto Sans JP"/>
              </a:rPr>
              <a:t>管理画面 UI 仕様書  以上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AF37"/>
                </a:solidFill>
                <a:latin typeface="Noto Sans JP"/>
              </a:rPr>
              <a:t>oas.kojinius.jp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