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5A4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731520" cy="64008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058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200"/>
              </a:lnSpc>
            </a:pPr>
            <a:r>
              <a:rPr sz="4200" b="1">
                <a:solidFill>
                  <a:srgbClr val="FFFFFF"/>
                </a:solidFill>
                <a:latin typeface="Noto Sans JP"/>
              </a:rPr>
              <a:t>福元鍼灸整骨院</a:t>
            </a:r>
          </a:p>
          <a:p>
            <a:pPr algn="l">
              <a:lnSpc>
                <a:spcPts val="5200"/>
              </a:lnSpc>
            </a:pPr>
            <a:r>
              <a:rPr sz="4200" b="1">
                <a:solidFill>
                  <a:srgbClr val="FFFFFF"/>
                </a:solidFill>
                <a:latin typeface="Noto Sans JP"/>
              </a:rPr>
              <a:t>オンライン予約システム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CF0DE"/>
                </a:solidFill>
                <a:latin typeface="Noto Sans JP"/>
              </a:rPr>
              <a:t>詳細設計書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006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79321"/>
                </a:solidFill>
                <a:latin typeface="Noto Sans JP"/>
              </a:rPr>
              <a:t>システム構成 / DB設計 / セキュリティ / API仕様 / バリデーション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5778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B7E8E"/>
                </a:solidFill>
                <a:latin typeface="Noto Sans JP"/>
              </a:rPr>
              <a:t>ver 1.0　|　2026-03-09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目次　— 詳細設計書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914400"/>
            <a:ext cx="548640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0" y="914400"/>
            <a:ext cx="5760720" cy="5394960"/>
          </a:xfrm>
          <a:prstGeom prst="rect">
            <a:avLst/>
          </a:prstGeom>
          <a:solidFill>
            <a:srgbClr val="F5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051560"/>
            <a:ext cx="411480" cy="41148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06070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A3040"/>
                </a:solidFill>
                <a:latin typeface="Noto Sans JP"/>
              </a:rPr>
              <a:t>システム概要・構成図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3560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B7E8E"/>
                </a:solidFill>
                <a:latin typeface="Noto Sans JP"/>
              </a:rPr>
              <a:t>技術スタック・構成要素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057400"/>
            <a:ext cx="411480" cy="41148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06654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A3040"/>
                </a:solidFill>
                <a:latin typeface="Noto Sans JP"/>
              </a:rPr>
              <a:t>Firestore データ設計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44144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B7E8E"/>
                </a:solidFill>
                <a:latin typeface="Noto Sans JP"/>
              </a:rPr>
              <a:t>コレクション・フィールド定義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063240"/>
            <a:ext cx="411480" cy="41148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07238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A3040"/>
                </a:solidFill>
                <a:latin typeface="Noto Sans JP"/>
              </a:rPr>
              <a:t>認証・認可設計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4472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B7E8E"/>
                </a:solidFill>
                <a:latin typeface="Noto Sans JP"/>
              </a:rPr>
              <a:t>Firebase Auth・admin クレーム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4069080"/>
            <a:ext cx="411480" cy="41148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7822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A3040"/>
                </a:solidFill>
                <a:latin typeface="Noto Sans JP"/>
              </a:rPr>
              <a:t>パスワード・アカウントポリシー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4531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B7E8E"/>
                </a:solidFill>
                <a:latin typeface="Noto Sans JP"/>
              </a:rPr>
              <a:t>パスワードルール・セッション管理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074920"/>
            <a:ext cx="411480" cy="41148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8406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A3040"/>
                </a:solidFill>
                <a:latin typeface="Noto Sans JP"/>
              </a:rPr>
              <a:t>Firestore セキュリティルール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5896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B7E8E"/>
                </a:solidFill>
                <a:latin typeface="Noto Sans JP"/>
              </a:rPr>
              <a:t>アクセス制御・バリデーション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1051560"/>
            <a:ext cx="411480" cy="41148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1060704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A3040"/>
                </a:solidFill>
                <a:latin typeface="Noto Sans JP"/>
              </a:rPr>
              <a:t>入力バリデーション一覧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143560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B7E8E"/>
                </a:solidFill>
                <a:latin typeface="Noto Sans JP"/>
              </a:rPr>
              <a:t>クライアント側・Firestore ルール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2240280"/>
            <a:ext cx="411480" cy="41148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2249424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A3040"/>
                </a:solidFill>
                <a:latin typeface="Noto Sans JP"/>
              </a:rPr>
              <a:t>Cloud Functions API 仕様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62432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B7E8E"/>
                </a:solidFill>
                <a:latin typeface="Noto Sans JP"/>
              </a:rPr>
              <a:t>エンドポイント・パラメータ定義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3429000"/>
            <a:ext cx="411480" cy="41148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3438144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A3040"/>
                </a:solidFill>
                <a:latin typeface="Noto Sans JP"/>
              </a:rPr>
              <a:t>メール通知設計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38130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B7E8E"/>
                </a:solidFill>
                <a:latin typeface="Noto Sans JP"/>
              </a:rPr>
              <a:t>送信フロー・メールテンプレート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5080" y="4617720"/>
            <a:ext cx="411480" cy="41148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4626864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A3040"/>
                </a:solidFill>
                <a:latin typeface="Noto Sans JP"/>
              </a:rPr>
              <a:t>ディレクトリ構成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500176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B7E8E"/>
                </a:solidFill>
                <a:latin typeface="Noto Sans JP"/>
              </a:rPr>
              <a:t>ファイル構成・役割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1　システム概要・構成図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182880"/>
            <a:ext cx="1463040" cy="45720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技術スタック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914400"/>
            <a:ext cx="3657600" cy="557784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05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35763"/>
                </a:solidFill>
                <a:latin typeface="Noto Sans JP"/>
              </a:rPr>
              <a:t>技術スタック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35763"/>
                </a:solidFill>
                <a:latin typeface="Noto Sans JP"/>
              </a:rPr>
              <a:t>フロントエンド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41732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3040"/>
                </a:solidFill>
                <a:latin typeface="Noto Sans JP"/>
              </a:rPr>
              <a:t>HTML / CSS / Vanilla JS (ES Modules)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6596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35763"/>
                </a:solidFill>
                <a:latin typeface="Noto Sans JP"/>
              </a:rPr>
              <a:t>データベース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196596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3040"/>
                </a:solidFill>
                <a:latin typeface="Noto Sans JP"/>
              </a:rPr>
              <a:t>Cloud Firestore（NoSQL）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51460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35763"/>
                </a:solidFill>
                <a:latin typeface="Noto Sans JP"/>
              </a:rPr>
              <a:t>認証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51460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3040"/>
                </a:solidFill>
                <a:latin typeface="Noto Sans JP"/>
              </a:rPr>
              <a:t>Firebase Authentication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35763"/>
                </a:solidFill>
                <a:latin typeface="Noto Sans JP"/>
              </a:rPr>
              <a:t>ホスティング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06324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3040"/>
                </a:solidFill>
                <a:latin typeface="Noto Sans JP"/>
              </a:rPr>
              <a:t>Firebase Hosting（kojinius.jp）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61188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35763"/>
                </a:solidFill>
                <a:latin typeface="Noto Sans JP"/>
              </a:rPr>
              <a:t>サーバーレス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361188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3040"/>
                </a:solidFill>
                <a:latin typeface="Noto Sans JP"/>
              </a:rPr>
              <a:t>Cloud Functions for Firebase（Node.js）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160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35763"/>
                </a:solidFill>
                <a:latin typeface="Noto Sans JP"/>
              </a:rPr>
              <a:t>メール配信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416052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3040"/>
                </a:solidFill>
                <a:latin typeface="Noto Sans JP"/>
              </a:rPr>
              <a:t>Resend API（SPF/DKIM 設定済み）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70916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35763"/>
                </a:solidFill>
                <a:latin typeface="Noto Sans JP"/>
              </a:rPr>
              <a:t>PDFエンジン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70916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3040"/>
                </a:solidFill>
                <a:latin typeface="Noto Sans JP"/>
              </a:rPr>
              <a:t>pdf-lib + fontkit（クライアント生成）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525780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35763"/>
                </a:solidFill>
                <a:latin typeface="Noto Sans JP"/>
              </a:rPr>
              <a:t>シークレット管理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525780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3040"/>
                </a:solidFill>
                <a:latin typeface="Noto Sans JP"/>
              </a:rPr>
              <a:t>Firebase Secret Manager（APIキー）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8064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35763"/>
                </a:solidFill>
                <a:latin typeface="Noto Sans JP"/>
              </a:rPr>
              <a:t>バージョン管理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580644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3040"/>
                </a:solidFill>
                <a:latin typeface="Noto Sans JP"/>
              </a:rPr>
              <a:t>Git / GitHub（Private）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0" y="914400"/>
            <a:ext cx="7955279" cy="5577840"/>
          </a:xfrm>
          <a:prstGeom prst="rect">
            <a:avLst/>
          </a:prstGeom>
          <a:solidFill>
            <a:srgbClr val="F5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0" y="10058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35763"/>
                </a:solidFill>
                <a:latin typeface="Noto Sans JP"/>
              </a:rPr>
              <a:t>システム構成図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06240" y="1463040"/>
            <a:ext cx="22860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9B7E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7680" y="15544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A3040"/>
                </a:solidFill>
                <a:latin typeface="Noto Sans JP"/>
              </a:rPr>
              <a:t>🌐 ブラウザ</a:t>
            </a:r>
          </a:p>
          <a:p>
            <a:pPr algn="l"/>
            <a:r>
              <a:rPr sz="1200" b="1">
                <a:solidFill>
                  <a:srgbClr val="4A3040"/>
                </a:solidFill>
                <a:latin typeface="Noto Sans JP"/>
              </a:rPr>
              <a:t>（患者・スタッフ）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22860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B7E8E"/>
                </a:solidFill>
                <a:latin typeface="Noto Sans JP"/>
              </a:rPr>
              <a:t>HTML / CSS / JS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20116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79321"/>
                </a:solidFill>
                <a:latin typeface="Noto Sans JP"/>
              </a:rPr>
              <a:t>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3760" y="1463040"/>
            <a:ext cx="2011680" cy="1645920"/>
          </a:xfrm>
          <a:prstGeom prst="rect">
            <a:avLst/>
          </a:prstGeom>
          <a:solidFill>
            <a:srgbClr val="735763"/>
          </a:solidFill>
          <a:ln w="12700">
            <a:solidFill>
              <a:srgbClr val="7357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0" y="15544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79321"/>
                </a:solidFill>
                <a:latin typeface="Noto Sans JP"/>
              </a:rPr>
              <a:t>🔥 Firebase</a:t>
            </a:r>
          </a:p>
          <a:p>
            <a:pPr algn="l"/>
            <a:r>
              <a:rPr sz="1200" b="1">
                <a:solidFill>
                  <a:srgbClr val="F79321"/>
                </a:solidFill>
                <a:latin typeface="Noto Sans JP"/>
              </a:rPr>
              <a:t>Hosting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286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CF0DE"/>
                </a:solidFill>
                <a:latin typeface="Noto Sans JP"/>
              </a:rPr>
              <a:t>kojinius.jp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32004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79321"/>
                </a:solidFill>
                <a:latin typeface="Noto Sans JP"/>
              </a:rPr>
              <a:t>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23760" y="3566160"/>
            <a:ext cx="20116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7357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0" y="3657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35763"/>
                </a:solidFill>
                <a:latin typeface="Noto Sans JP"/>
              </a:rPr>
              <a:t>🗄️ Firestore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404164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reservations</a:t>
            </a:r>
          </a:p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slots / settings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223760" y="4846320"/>
            <a:ext cx="20116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7357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0" y="48920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35763"/>
                </a:solidFill>
                <a:latin typeface="Noto Sans JP"/>
              </a:rPr>
              <a:t>🔐 Auth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admin クレーム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566160"/>
            <a:ext cx="22860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9B7E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97680" y="365760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A3040"/>
                </a:solidFill>
                <a:latin typeface="Noto Sans JP"/>
              </a:rPr>
              <a:t>⚡ Cloud</a:t>
            </a:r>
          </a:p>
          <a:p>
            <a:pPr algn="l"/>
            <a:r>
              <a:rPr sz="1200" b="1">
                <a:solidFill>
                  <a:srgbClr val="4A3040"/>
                </a:solidFill>
                <a:latin typeface="Noto Sans JP"/>
              </a:rPr>
              <a:t>Functions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42519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sendMail / scheduler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5120" y="39319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79321"/>
                </a:solidFill>
                <a:latin typeface="Noto Sans JP"/>
              </a:rPr>
              <a:t>→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418320" y="3566160"/>
            <a:ext cx="22860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9B7E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09760" y="365760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A3040"/>
                </a:solidFill>
                <a:latin typeface="Noto Sans JP"/>
              </a:rPr>
              <a:t>📧 Resend</a:t>
            </a:r>
          </a:p>
          <a:p>
            <a:pPr algn="l"/>
            <a:r>
              <a:rPr sz="1200" b="1">
                <a:solidFill>
                  <a:srgbClr val="4A3040"/>
                </a:solidFill>
                <a:latin typeface="Noto Sans JP"/>
              </a:rPr>
              <a:t>API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9760" y="42519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kojinius.jp 送信ドメイン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12080" y="32004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79321"/>
                </a:solidFill>
                <a:latin typeface="Noto Sans JP"/>
              </a:rPr>
              <a:t>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2　Firestore データ設計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182880"/>
            <a:ext cx="1463040" cy="45720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DB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914400"/>
            <a:ext cx="3840480" cy="557784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914400"/>
            <a:ext cx="3840480" cy="45720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79321"/>
                </a:solidFill>
                <a:latin typeface="Noto Sans JP"/>
              </a:rPr>
              <a:t>reservations/{uuid}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417320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35763"/>
                </a:solidFill>
                <a:latin typeface="Noto Sans JP"/>
              </a:rPr>
              <a:t>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9616" y="1417320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string(36)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2304" y="1417320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UUID v4 予約番号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1728216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35763"/>
                </a:solidFill>
                <a:latin typeface="Noto Sans JP"/>
              </a:rPr>
              <a:t>name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9616" y="1728216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string≤50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2304" y="1728216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患者氏名（必須）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" y="2039112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35763"/>
                </a:solidFill>
                <a:latin typeface="Noto Sans JP"/>
              </a:rPr>
              <a:t>furigana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9616" y="2039112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string≤50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2304" y="2039112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ふりがな（必須）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" y="2350008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35763"/>
                </a:solidFill>
                <a:latin typeface="Noto Sans JP"/>
              </a:rPr>
              <a:t>phone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9616" y="2350008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string≤20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32304" y="2350008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電話番号（必須・半角）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2660904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35763"/>
                </a:solidFill>
                <a:latin typeface="Noto Sans JP"/>
              </a:rPr>
              <a:t>email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9616" y="2660904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string≤200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32304" y="2660904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メールアドレス（任意）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" y="2971800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35763"/>
                </a:solidFill>
                <a:latin typeface="Noto Sans JP"/>
              </a:rPr>
              <a:t>birthdate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99616" y="2971800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string≤10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32304" y="2971800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生年月日 YYYY-MM-DD（任意）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" y="3282696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35763"/>
                </a:solidFill>
                <a:latin typeface="Noto Sans JP"/>
              </a:rPr>
              <a:t>gender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99616" y="3282696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string≤20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32304" y="3282696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性別（任意）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" y="3593592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35763"/>
                </a:solidFill>
                <a:latin typeface="Noto Sans JP"/>
              </a:rPr>
              <a:t>zip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99616" y="3593592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string≤8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32304" y="3593592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郵便番号（任意）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" y="3904488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35763"/>
                </a:solidFill>
                <a:latin typeface="Noto Sans JP"/>
              </a:rPr>
              <a:t>address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99616" y="3904488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string≤200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32304" y="3904488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住所（任意）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" y="4215384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35763"/>
                </a:solidFill>
                <a:latin typeface="Noto Sans JP"/>
              </a:rPr>
              <a:t>date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99616" y="4215384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string=10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32304" y="4215384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予約日 YYYY-MM-DD（必須）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8" y="4526280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35763"/>
                </a:solidFill>
                <a:latin typeface="Noto Sans JP"/>
              </a:rPr>
              <a:t>time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99616" y="4526280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string≤10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32304" y="4526280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予約時刻 H:MM（必須）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2608" y="4837176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35763"/>
                </a:solidFill>
                <a:latin typeface="Noto Sans JP"/>
              </a:rPr>
              <a:t>visitType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99616" y="4837176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string≤50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32304" y="4837176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初診/再診（任意）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2608" y="5148072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35763"/>
                </a:solidFill>
                <a:latin typeface="Noto Sans JP"/>
              </a:rPr>
              <a:t>insurance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99616" y="5148072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string≤50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32304" y="5148072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保険有無（任意）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8" y="5458968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35763"/>
                </a:solidFill>
                <a:latin typeface="Noto Sans JP"/>
              </a:rPr>
              <a:t>symptoms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99616" y="5458968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string≤1000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32304" y="5458968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症状（任意）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2608" y="5769864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35763"/>
                </a:solidFill>
                <a:latin typeface="Noto Sans JP"/>
              </a:rPr>
              <a:t>notes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99616" y="5769864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string≤500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32304" y="5769864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伝達事項（任意）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2608" y="6080760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35763"/>
                </a:solidFill>
                <a:latin typeface="Noto Sans JP"/>
              </a:rPr>
              <a:t>contactMethod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99616" y="6080760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string≤50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32304" y="6080760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連絡方法（任意）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06240" y="914400"/>
            <a:ext cx="3840480" cy="557784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206240" y="914400"/>
            <a:ext cx="3840480" cy="4572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slots/{date_time}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15968" y="1417320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6DA4"/>
                </a:solidFill>
                <a:latin typeface="Noto Sans JP"/>
              </a:rPr>
              <a:t>date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22976" y="1417320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string=10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55664" y="1417320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予約日 YYYY-MM-DD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15968" y="1728216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6DA4"/>
                </a:solidFill>
                <a:latin typeface="Noto Sans JP"/>
              </a:rPr>
              <a:t>time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522976" y="1728216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string≤10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55664" y="1728216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予約時刻 H:MM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15968" y="2039112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6DA4"/>
                </a:solidFill>
                <a:latin typeface="Noto Sans JP"/>
              </a:rPr>
              <a:t>status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522976" y="2039112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enum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55664" y="2039112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pending / cancelled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29600" y="914400"/>
            <a:ext cx="3840480" cy="557784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229600" y="914400"/>
            <a:ext cx="3840480" cy="457200"/>
          </a:xfrm>
          <a:prstGeom prst="rect">
            <a:avLst/>
          </a:prstGeom>
          <a:solidFill>
            <a:srgbClr val="3A8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settings/clinic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39328" y="1417320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clinicName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546336" y="1417320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string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79024" y="1417320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院名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39328" y="1728216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phone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46336" y="1728216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string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479024" y="1728216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電話番号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39328" y="2039112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clinicAddress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546336" y="2039112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string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79024" y="2039112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住所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39328" y="2350008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clinicZip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46336" y="2350008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string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79024" y="2350008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郵便番号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39328" y="2660904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clinicUrl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546336" y="2660904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string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79024" y="2660904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HP URL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39328" y="2971800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clinicLogo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546336" y="2971800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string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479024" y="2971800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ロゴ（base64 PNG）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39328" y="3282696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colorTheme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46336" y="3282696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string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479024" y="3282696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カラーテーマ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39328" y="3593592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businessHours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546336" y="3593592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map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479024" y="3593592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営業時間設定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339328" y="3904488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holidays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546336" y="3904488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array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479024" y="3904488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休日日付リスト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339328" y="4215384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announcement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546336" y="4215384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map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479024" y="4215384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お知らせバナー設定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39328" y="4526280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maintenance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46336" y="4526280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map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479024" y="4526280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メンテナンス期間設定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339328" y="4837176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bookingCutoffMinutes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46336" y="4837176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number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479024" y="4837176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予約締め切り分前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339328" y="5148072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cancelCutoffMinutes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546336" y="5148072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number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479024" y="5148072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キャンセル締め切り分前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339328" y="5458968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privacyPolicy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546336" y="5458968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string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479024" y="5458968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プライバシーポリシー本文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3　認証・認可設計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182880"/>
            <a:ext cx="1463040" cy="45720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Firebase Auth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914400"/>
            <a:ext cx="5486400" cy="557784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058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35763"/>
                </a:solidFill>
                <a:latin typeface="Noto Sans JP"/>
              </a:rPr>
              <a:t>ログインフロー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63040"/>
            <a:ext cx="384048" cy="384048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4630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A3040"/>
                </a:solidFill>
                <a:latin typeface="Noto Sans JP"/>
              </a:rPr>
              <a:t>メール・パスワード入力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71907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B7E8E"/>
                </a:solidFill>
                <a:latin typeface="Noto Sans JP"/>
              </a:rPr>
              <a:t>スタッフがログインフォームに入力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167128"/>
            <a:ext cx="384048" cy="384048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1671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A3040"/>
                </a:solidFill>
                <a:latin typeface="Noto Sans JP"/>
              </a:rPr>
              <a:t>setPersistence(browser)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4231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B7E8E"/>
                </a:solidFill>
                <a:latin typeface="Noto Sans JP"/>
              </a:rPr>
              <a:t>セッション限定（タブを閉じるとログアウト）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71216"/>
            <a:ext cx="384048" cy="384048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87121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A3040"/>
                </a:solidFill>
                <a:latin typeface="Noto Sans JP"/>
              </a:rPr>
              <a:t>signInWithEmailAndPassword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12724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B7E8E"/>
                </a:solidFill>
                <a:latin typeface="Noto Sans JP"/>
              </a:rPr>
              <a:t>Firebase Auth で認証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575304"/>
            <a:ext cx="384048" cy="384048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57530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A3040"/>
                </a:solidFill>
                <a:latin typeface="Noto Sans JP"/>
              </a:rPr>
              <a:t>getIdTokenResult()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83133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B7E8E"/>
                </a:solidFill>
                <a:latin typeface="Noto Sans JP"/>
              </a:rPr>
              <a:t>カスタムクレームを取得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279392"/>
            <a:ext cx="384048" cy="384048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27939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A3040"/>
                </a:solidFill>
                <a:latin typeface="Noto Sans JP"/>
              </a:rPr>
              <a:t>claims.admin == true 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53542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B7E8E"/>
                </a:solidFill>
                <a:latin typeface="Noto Sans JP"/>
              </a:rPr>
              <a:t>admin クレームを確認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983480"/>
            <a:ext cx="384048" cy="384048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983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A3040"/>
                </a:solidFill>
                <a:latin typeface="Noto Sans JP"/>
              </a:rPr>
              <a:t>YES → 管理画面表示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23951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B7E8E"/>
                </a:solidFill>
                <a:latin typeface="Noto Sans JP"/>
              </a:rPr>
              <a:t>admin.html をロード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687568"/>
            <a:ext cx="384048" cy="384048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68756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A3040"/>
                </a:solidFill>
                <a:latin typeface="Noto Sans JP"/>
              </a:rPr>
              <a:t>NO  → ログアウト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9436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B7E8E"/>
                </a:solidFill>
                <a:latin typeface="Noto Sans JP"/>
              </a:rPr>
              <a:t>signOut() → login.html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0" y="914400"/>
            <a:ext cx="6035040" cy="5577840"/>
          </a:xfrm>
          <a:prstGeom prst="rect">
            <a:avLst/>
          </a:prstGeom>
          <a:solidFill>
            <a:srgbClr val="F5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0" y="10058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35763"/>
                </a:solidFill>
                <a:latin typeface="Noto Sans JP"/>
              </a:rPr>
              <a:t>認可マトリクス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0" y="1417320"/>
            <a:ext cx="6035040" cy="3657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89320" y="14630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Noto Sans JP"/>
              </a:rPr>
              <a:t>操作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14630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Noto Sans JP"/>
              </a:rPr>
              <a:t>未認証（患者）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14630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Noto Sans JP"/>
              </a:rPr>
              <a:t>認証済み管理者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1828800"/>
            <a:ext cx="60350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89320" y="188366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reservations 新規作成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188366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✅ 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60" y="18836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✅ 可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2212848"/>
            <a:ext cx="6035040" cy="384048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89320" y="226771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reservations 一覧取得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226771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0392B"/>
                </a:solidFill>
                <a:latin typeface="Noto Sans JP"/>
              </a:rPr>
              <a:t>❌ 不可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22677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✅ 可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43600" y="2596896"/>
            <a:ext cx="60350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89320" y="26517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reservations 1件取得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0" y="26517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✅ 可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66960" y="2651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✅ 可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0" y="2980944"/>
            <a:ext cx="6035040" cy="384048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89320" y="30358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reservations キャンセル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0" y="303580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✅ 可*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6960" y="3035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✅ 可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43600" y="3364992"/>
            <a:ext cx="60350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89320" y="341985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reservations 削除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0" y="341985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0392B"/>
                </a:solidFill>
                <a:latin typeface="Noto Sans JP"/>
              </a:rPr>
              <a:t>❌ 不可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6960" y="341985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✅ 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943600" y="3749040"/>
            <a:ext cx="6035040" cy="384048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893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slots 読み取り/作成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72400" y="380390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✅ 可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66960" y="380390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✅ 可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943600" y="4133088"/>
            <a:ext cx="60350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989320" y="41879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slots ステータス更新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72400" y="418795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✅ 可*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66960" y="41879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✅ 可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943600" y="4517136"/>
            <a:ext cx="6035040" cy="384048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989320" y="45720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settings 読み取り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72400" y="45720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✅ 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66960" y="4572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✅ 可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943600" y="4901184"/>
            <a:ext cx="60350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989320" y="495604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settings 書き込み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772400" y="495604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0392B"/>
                </a:solidFill>
                <a:latin typeface="Noto Sans JP"/>
              </a:rPr>
              <a:t>❌ 不可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66960" y="495604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✅ 可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89320" y="5330952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B7E8E"/>
                </a:solidFill>
                <a:latin typeface="Noto Sans JP"/>
              </a:rPr>
              <a:t>* 条件付き（電話番号一致 / _cancelVerify フィールド検証）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4　パスワード・アカウントポリシー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182880"/>
            <a:ext cx="1463040" cy="45720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914400"/>
            <a:ext cx="5760720" cy="256032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05840"/>
            <a:ext cx="2926080" cy="347472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🔑 パスワードルール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42646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35763"/>
                </a:solidFill>
                <a:latin typeface="Noto Sans JP"/>
              </a:rPr>
              <a:t>最低文字数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42646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3040"/>
                </a:solidFill>
                <a:latin typeface="Noto Sans JP"/>
              </a:rPr>
              <a:t>8文字以上（フロントエンドバリデーション）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81051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35763"/>
                </a:solidFill>
                <a:latin typeface="Noto Sans JP"/>
              </a:rPr>
              <a:t>文字種制限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81051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3040"/>
                </a:solidFill>
                <a:latin typeface="Noto Sans JP"/>
              </a:rPr>
              <a:t>Firebase Auth デフォルト（制限なし）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1945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35763"/>
                </a:solidFill>
                <a:latin typeface="Noto Sans JP"/>
              </a:rPr>
              <a:t>確認入力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19456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3040"/>
                </a:solidFill>
                <a:latin typeface="Noto Sans JP"/>
              </a:rPr>
              <a:t>「新しいパスワード」「確認用」の2入力で一致チェック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7860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35763"/>
                </a:solidFill>
                <a:latin typeface="Noto Sans JP"/>
              </a:rPr>
              <a:t>変更時再認証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578608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3040"/>
                </a:solidFill>
                <a:latin typeface="Noto Sans JP"/>
              </a:rPr>
              <a:t>現在のパスワードによる reauthenticateWithCredential 必須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96265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35763"/>
                </a:solidFill>
                <a:latin typeface="Noto Sans JP"/>
              </a:rPr>
              <a:t>変更API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2962656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3040"/>
                </a:solidFill>
                <a:latin typeface="Noto Sans JP"/>
              </a:rPr>
              <a:t>Firebase updatePassword()（セキュアな変更）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914400"/>
            <a:ext cx="5852160" cy="2560320"/>
          </a:xfrm>
          <a:prstGeom prst="rect">
            <a:avLst/>
          </a:prstGeom>
          <a:solidFill>
            <a:srgbClr val="F5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1005840"/>
            <a:ext cx="3291840" cy="347472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🔐 セッション・ログイン管理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42646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35763"/>
                </a:solidFill>
                <a:latin typeface="Noto Sans JP"/>
              </a:rPr>
              <a:t>セッション種別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142646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3040"/>
                </a:solidFill>
                <a:latin typeface="Noto Sans JP"/>
              </a:rPr>
              <a:t>browserSessionPersistence（タブ閉じで自動ログアウト）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828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35763"/>
                </a:solidFill>
                <a:latin typeface="Noto Sans JP"/>
              </a:rPr>
              <a:t>ログイン失敗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1828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3040"/>
                </a:solidFill>
                <a:latin typeface="Noto Sans JP"/>
              </a:rPr>
              <a:t>Firebase Auth が自動的にレートリミット（too-many-requests）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23113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35763"/>
                </a:solidFill>
                <a:latin typeface="Noto Sans JP"/>
              </a:rPr>
              <a:t>エラーメッセージ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223113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3040"/>
                </a:solidFill>
                <a:latin typeface="Noto Sans JP"/>
              </a:rPr>
              <a:t>「メールアドレスまたはパスワードが正しくありません」</a:t>
            </a:r>
          </a:p>
          <a:p>
            <a:pPr algn="l"/>
            <a:r>
              <a:rPr sz="1100" b="0">
                <a:solidFill>
                  <a:srgbClr val="4A3040"/>
                </a:solidFill>
                <a:latin typeface="Noto Sans JP"/>
              </a:rPr>
              <a:t>（ユーザー列挙攻撃対策のため同一メッセージ）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6334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35763"/>
                </a:solidFill>
                <a:latin typeface="Noto Sans JP"/>
              </a:rPr>
              <a:t>管理者確認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26334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3040"/>
                </a:solidFill>
                <a:latin typeface="Noto Sans JP"/>
              </a:rPr>
              <a:t>ログイン後に claims.admin == true を必須チェック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0358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35763"/>
                </a:solidFill>
                <a:latin typeface="Noto Sans JP"/>
              </a:rPr>
              <a:t>ガード方式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30358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3040"/>
                </a:solidFill>
                <a:latin typeface="Noto Sans JP"/>
              </a:rPr>
              <a:t>全ページで requireAdmin() を先頭に配置、未認証は即リダイレクト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880" y="3657600"/>
            <a:ext cx="11795760" cy="283464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749039"/>
            <a:ext cx="6858000" cy="347472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📧 メールアドレス変更フロー（Firebase verifyBeforeUpdateEmail）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160520"/>
            <a:ext cx="20116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9B7E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4160520"/>
            <a:ext cx="2011680" cy="45720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1. 再認証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66344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4A3040"/>
                </a:solidFill>
                <a:latin typeface="Noto Sans JP"/>
              </a:rPr>
              <a:t>現在のパスワードで</a:t>
            </a:r>
          </a:p>
          <a:p>
            <a:pPr algn="l">
              <a:lnSpc>
                <a:spcPts val="1500"/>
              </a:lnSpc>
            </a:pPr>
            <a:r>
              <a:rPr sz="1100" b="0">
                <a:solidFill>
                  <a:srgbClr val="4A3040"/>
                </a:solidFill>
                <a:latin typeface="Noto Sans JP"/>
              </a:rPr>
              <a:t>reauthenticate()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45720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79321"/>
                </a:solidFill>
                <a:latin typeface="Noto Sans JP"/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51760" y="4160520"/>
            <a:ext cx="20116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9B7E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51760" y="4160520"/>
            <a:ext cx="2011680" cy="45720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2. 確認メール送信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466344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4A3040"/>
                </a:solidFill>
                <a:latin typeface="Noto Sans JP"/>
              </a:rPr>
              <a:t>新しいアドレスに</a:t>
            </a:r>
          </a:p>
          <a:p>
            <a:pPr algn="l">
              <a:lnSpc>
                <a:spcPts val="1500"/>
              </a:lnSpc>
            </a:pPr>
            <a:r>
              <a:rPr sz="1100" b="0">
                <a:solidFill>
                  <a:srgbClr val="4A3040"/>
                </a:solidFill>
                <a:latin typeface="Noto Sans JP"/>
              </a:rPr>
              <a:t>verifyBeforeUpdateEmail()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09160" y="45720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79321"/>
                </a:solidFill>
                <a:latin typeface="Noto Sans JP"/>
              </a:rPr>
              <a:t>→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37760" y="4160520"/>
            <a:ext cx="20116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9B7E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937760" y="4160520"/>
            <a:ext cx="2011680" cy="45720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3. リンクをクリック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0" y="466344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4A3040"/>
                </a:solidFill>
                <a:latin typeface="Noto Sans JP"/>
              </a:rPr>
              <a:t>メール内のリンクを</a:t>
            </a:r>
          </a:p>
          <a:p>
            <a:pPr algn="l">
              <a:lnSpc>
                <a:spcPts val="1500"/>
              </a:lnSpc>
            </a:pPr>
            <a:r>
              <a:rPr sz="1100" b="0">
                <a:solidFill>
                  <a:srgbClr val="4A3040"/>
                </a:solidFill>
                <a:latin typeface="Noto Sans JP"/>
              </a:rPr>
              <a:t>クリック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95160" y="45720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79321"/>
                </a:solidFill>
                <a:latin typeface="Noto Sans JP"/>
              </a:rPr>
              <a:t>→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23760" y="4160520"/>
            <a:ext cx="20116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9B7E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223760" y="4160520"/>
            <a:ext cx="2011680" cy="45720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4. 変更完了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466344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4A3040"/>
                </a:solidFill>
                <a:latin typeface="Noto Sans JP"/>
              </a:rPr>
              <a:t>Firebase が新アドレスに</a:t>
            </a:r>
          </a:p>
          <a:p>
            <a:pPr algn="l">
              <a:lnSpc>
                <a:spcPts val="1500"/>
              </a:lnSpc>
            </a:pPr>
            <a:r>
              <a:rPr sz="1100" b="0">
                <a:solidFill>
                  <a:srgbClr val="4A3040"/>
                </a:solidFill>
                <a:latin typeface="Noto Sans JP"/>
              </a:rPr>
              <a:t>自動更新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81160" y="45720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79321"/>
                </a:solidFill>
                <a:latin typeface="Noto Sans JP"/>
              </a:rPr>
              <a:t>→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09760" y="4160520"/>
            <a:ext cx="20116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9B7E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509760" y="4160520"/>
            <a:ext cx="2011680" cy="45720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5. 旧アドレス無効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01200" y="466344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4A3040"/>
                </a:solidFill>
                <a:latin typeface="Noto Sans JP"/>
              </a:rPr>
              <a:t>旧アドレスでは</a:t>
            </a:r>
          </a:p>
          <a:p>
            <a:pPr algn="l">
              <a:lnSpc>
                <a:spcPts val="1500"/>
              </a:lnSpc>
            </a:pPr>
            <a:r>
              <a:rPr sz="1100" b="0">
                <a:solidFill>
                  <a:srgbClr val="4A3040"/>
                </a:solidFill>
                <a:latin typeface="Noto Sans JP"/>
              </a:rPr>
              <a:t>ログイン不可になる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5　Firestore セキュリティルール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182880"/>
            <a:ext cx="1463040" cy="45720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firestore.rules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914400"/>
            <a:ext cx="11795760" cy="557784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05840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B7E8E"/>
                </a:solidFill>
                <a:latin typeface="Courier New"/>
              </a:rPr>
              <a:t>// デフォルト拒否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52728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BB2BF"/>
                </a:solidFill>
                <a:latin typeface="Courier New"/>
              </a:rPr>
              <a:t>match /{document=**} { allow read, write: if false; 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499616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BB2BF"/>
                </a:solidFill>
                <a:latin typeface="Courier New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46504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B7E8E"/>
                </a:solidFill>
                <a:latin typeface="Courier New"/>
              </a:rPr>
              <a:t>// 管理者判定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993392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BB2BF"/>
                </a:solidFill>
                <a:latin typeface="Courier New"/>
              </a:rPr>
              <a:t>function isAdmin() {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240280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BB2BF"/>
                </a:solidFill>
                <a:latin typeface="Courier New"/>
              </a:rPr>
              <a:t>  return request.auth != null &amp;&amp; request.auth.token.admin == true;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487168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BB2BF"/>
                </a:solidFill>
                <a:latin typeface="Courier New"/>
              </a:rPr>
              <a:t>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734056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BB2BF"/>
                </a:solidFill>
                <a:latin typeface="Courier New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980944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B7E8E"/>
                </a:solidFill>
                <a:latin typeface="Courier New"/>
              </a:rPr>
              <a:t>// reservations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227832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6C75"/>
                </a:solidFill>
                <a:latin typeface="Courier New"/>
              </a:rPr>
              <a:t>allow create: if request.auth == null &amp;&amp; isValidReservation(data);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474720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6B6C2"/>
                </a:solidFill>
                <a:latin typeface="Courier New"/>
              </a:rPr>
              <a:t>allow get:    if request.auth == null;                 // ID=トークン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721608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6B6C2"/>
                </a:solidFill>
                <a:latin typeface="Courier New"/>
              </a:rPr>
              <a:t>allow update: if request.auth == null                 // キャンセルのみ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968496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6B6C2"/>
                </a:solidFill>
                <a:latin typeface="Courier New"/>
              </a:rPr>
              <a:t>             &amp;&amp; data.status != 'cancelled'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215384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6B6C2"/>
                </a:solidFill>
                <a:latin typeface="Courier New"/>
              </a:rPr>
              <a:t>             &amp;&amp; newData.status == 'cancelled'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462272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5C07B"/>
                </a:solidFill>
                <a:latin typeface="Courier New"/>
              </a:rPr>
              <a:t>             &amp;&amp; newData._cancelVerify == data.phone;  // 電話番号検証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709160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8C379"/>
                </a:solidFill>
                <a:latin typeface="Courier New"/>
              </a:rPr>
              <a:t>allow read, write: if isAdmin();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956048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BB2BF"/>
                </a:solidFill>
                <a:latin typeface="Courier New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202936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B7E8E"/>
                </a:solidFill>
                <a:latin typeface="Courier New"/>
              </a:rPr>
              <a:t>// slots: 二重予約防止用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5449824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BB2BF"/>
                </a:solidFill>
                <a:latin typeface="Courier New"/>
              </a:rPr>
              <a:t>allow read, create: if request.auth == null;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696712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6B6C2"/>
                </a:solidFill>
                <a:latin typeface="Courier New"/>
              </a:rPr>
              <a:t>allow update: if request.auth == null                 // キャンセル⇄再予約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5943600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BB2BF"/>
                </a:solidFill>
                <a:latin typeface="Courier New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190488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B7E8E"/>
                </a:solidFill>
                <a:latin typeface="Courier New"/>
              </a:rPr>
              <a:t>// settings: 未認証でも読み取り可（院名・テーマ表示用）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437376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8C379"/>
                </a:solidFill>
                <a:latin typeface="Courier New"/>
              </a:rPr>
              <a:t>allow read: if true;  allow write: if isAdmin();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6　入力バリデーション一覧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182880"/>
            <a:ext cx="1463040" cy="45720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914400"/>
            <a:ext cx="11795760" cy="438912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969264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Noto Sans JP"/>
              </a:rPr>
              <a:t>フィールド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969264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Noto Sans JP"/>
              </a:rPr>
              <a:t>必須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969264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Noto Sans JP"/>
              </a:rPr>
              <a:t>形式・制約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969264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Noto Sans JP"/>
              </a:rPr>
              <a:t>クライアント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969264"/>
            <a:ext cx="3108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Noto Sans JP"/>
              </a:rPr>
              <a:t>Firestoreルール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353312"/>
            <a:ext cx="1179576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8600" y="13898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氏名（name）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138988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0392B"/>
                </a:solidFill>
                <a:latin typeface="Noto Sans JP"/>
              </a:rPr>
              <a:t>必須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138988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最大50文字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13898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未入力チェック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138988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string &amp; ≤50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1682496"/>
            <a:ext cx="11795760" cy="329184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" y="171907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ふりがな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171907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0392B"/>
                </a:solidFill>
                <a:latin typeface="Noto Sans JP"/>
              </a:rPr>
              <a:t>必須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171907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最大50文字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171907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未入力チェック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171907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string &amp; ≤50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2011680"/>
            <a:ext cx="1179576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8600" y="204825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電話番号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204825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0392B"/>
                </a:solidFill>
                <a:latin typeface="Noto Sans JP"/>
              </a:rPr>
              <a:t>必須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204825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最大20文字・半角正規化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204825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未入力＋toHankaku()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204825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string &amp; ≤20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880" y="2340864"/>
            <a:ext cx="11795760" cy="329184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8600" y="2377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メールアドレス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20" y="23774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任意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23774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最大200文字・形式チェック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2377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形式チェック（正規表現）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23774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string &amp; ≤200（任意）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2880" y="2670048"/>
            <a:ext cx="1179576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8600" y="270662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生年月日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2706624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任意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4640" y="270662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YYYY-MM-DD 形式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270662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日付フォーマット確認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78240" y="270662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string &amp; ≤10（任意）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2880" y="2999232"/>
            <a:ext cx="11795760" cy="329184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8600" y="3035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性別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303580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任意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34640" y="303580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最大20文字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30358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ラジオボタン選択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78240" y="303580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string &amp; ≤20（任意）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2880" y="3328416"/>
            <a:ext cx="1179576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8600" y="33649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郵便番号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3120" y="336499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0392B"/>
                </a:solidFill>
                <a:latin typeface="Noto Sans JP"/>
              </a:rPr>
              <a:t>必須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34640" y="336499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最大8文字・半角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43600" y="33649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zipcloud API 入力補助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78240" y="336499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string &amp; ≤8（任意）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2880" y="3657600"/>
            <a:ext cx="11795760" cy="329184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28600" y="369417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住所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03120" y="369417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0392B"/>
                </a:solidFill>
                <a:latin typeface="Noto Sans JP"/>
              </a:rPr>
              <a:t>必須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34640" y="369417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最大200文字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369417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zipcloud 自動補完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78240" y="369417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string &amp; ≤200（任意）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82880" y="3986784"/>
            <a:ext cx="1179576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2860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予約日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03120" y="40233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0392B"/>
                </a:solidFill>
                <a:latin typeface="Noto Sans JP"/>
              </a:rPr>
              <a:t>必須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34640" y="40233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YYYY-MM-DD（=10文字）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4023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カレンダー選択のみ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78240" y="40233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string &amp; =10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315968"/>
            <a:ext cx="11795760" cy="329184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28600" y="435254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予約時刻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103120" y="4352544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0392B"/>
                </a:solidFill>
                <a:latin typeface="Noto Sans JP"/>
              </a:rPr>
              <a:t>必須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34640" y="43525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H:MM（≤10文字）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43600" y="435254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スロット選択のみ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78240" y="435254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string &amp; ≤10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645152"/>
            <a:ext cx="1179576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28600" y="46817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症状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03120" y="46817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任意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34640" y="468172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最大1000文字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3600" y="46817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文字数カウント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78240" y="468172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string &amp; ≤1000（任意）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974336"/>
            <a:ext cx="11795760" cy="329184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28600" y="50109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伝達事項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03120" y="501091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任意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834640" y="501091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最大500文字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43600" y="501091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文字数カウント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778240" y="501091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string &amp; ≤500（任意）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82880" y="5303520"/>
            <a:ext cx="1179576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28600" y="534009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ステータス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03120" y="534009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0392B"/>
                </a:solidFill>
                <a:latin typeface="Noto Sans JP"/>
              </a:rPr>
              <a:t>必須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834640" y="534009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enum 3値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943600" y="534009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システム管理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778240" y="534009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in [pending,confirmed,cancelled]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82880" y="5632704"/>
            <a:ext cx="11795760" cy="329184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28600" y="5669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個人情報同意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03120" y="5669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0392B"/>
                </a:solidFill>
                <a:latin typeface="Noto Sans JP"/>
              </a:rPr>
              <a:t>必須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834640" y="56692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チェック必須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943600" y="5669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checkboxチェック確認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778240" y="56692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（クライアント側のみ）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82880" y="5961888"/>
            <a:ext cx="1179576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28600" y="59984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HP URL（設定画面）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103120" y="5998464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8A5C"/>
                </a:solidFill>
                <a:latin typeface="Noto Sans JP"/>
              </a:rPr>
              <a:t>任意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834640" y="599846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URL形式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943600" y="599846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new URL() でパース検証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778240" y="599846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（設定はadminのみ）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7　Cloud Functions API 仕様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182880"/>
            <a:ext cx="1463040" cy="45720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HTTP Functions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914400"/>
            <a:ext cx="3840480" cy="557784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914400"/>
            <a:ext cx="3840480" cy="5029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87552"/>
            <a:ext cx="8229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E6DA4"/>
                </a:solidFill>
                <a:latin typeface="Noto Sans JP"/>
              </a:rPr>
              <a:t>POST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00584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Noto Sans JP"/>
              </a:rPr>
              <a:t>sendReservationEmail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508760"/>
            <a:ext cx="3657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735763"/>
                </a:solidFill>
                <a:latin typeface="Noto Sans JP"/>
              </a:rPr>
              <a:t>エンドポイント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755648"/>
            <a:ext cx="3657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https://sendreservationemail-po3aztuimq-uc.a.run.app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075688"/>
            <a:ext cx="3657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735763"/>
                </a:solidFill>
                <a:latin typeface="Noto Sans JP"/>
              </a:rPr>
              <a:t>トリガー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232257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</a:pPr>
            <a:r>
              <a:rPr sz="900" b="0">
                <a:solidFill>
                  <a:srgbClr val="4A3040"/>
                </a:solidFill>
                <a:latin typeface="Noto Sans JP"/>
              </a:rPr>
              <a:t>患者が予約確定時にクライアントから直接呼び出し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2734056"/>
            <a:ext cx="3657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735763"/>
                </a:solidFill>
                <a:latin typeface="Noto Sans JP"/>
              </a:rPr>
              <a:t>パラメータ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008376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• to (必須) : 患者メールアドレス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326440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• name (必須) : 患者氏名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52044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• date (必須) : 予約日 YYYY-MM-DD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377647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• time (必須) : 予約時刻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40325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• menu (必須) : 診療メニュー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4288536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• id (任意) : 予約番号（UUID）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4636008"/>
            <a:ext cx="3657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CORS: https://kojinius.jp のみ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882896"/>
            <a:ext cx="3657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Secret: RESEND_API_KEY（Secret Manager）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914400"/>
            <a:ext cx="3840480" cy="557784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06240" y="914400"/>
            <a:ext cx="3840480" cy="50292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97680" y="987552"/>
            <a:ext cx="8229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79321"/>
                </a:solidFill>
                <a:latin typeface="Noto Sans JP"/>
              </a:rPr>
              <a:t>POST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100584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Noto Sans JP"/>
              </a:rPr>
              <a:t>notifyAdminOnReservation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1508760"/>
            <a:ext cx="3657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735763"/>
                </a:solidFill>
                <a:latin typeface="Noto Sans JP"/>
              </a:rPr>
              <a:t>エンドポイント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1755648"/>
            <a:ext cx="3657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https://notifyadminonreservation-po3aztuimq-uc.a.run.app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2075688"/>
            <a:ext cx="3657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735763"/>
                </a:solidFill>
                <a:latin typeface="Noto Sans JP"/>
              </a:rPr>
              <a:t>トリガー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232257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</a:pPr>
            <a:r>
              <a:rPr sz="900" b="0">
                <a:solidFill>
                  <a:srgbClr val="4A3040"/>
                </a:solidFill>
                <a:latin typeface="Noto Sans JP"/>
              </a:rPr>
              <a:t>患者が予約確定時にクライアントから呼び出し（非同期・fire-and-forget）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734056"/>
            <a:ext cx="3657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735763"/>
                </a:solidFill>
                <a:latin typeface="Noto Sans JP"/>
              </a:rPr>
              <a:t>パラメータ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3008376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• name (必須) : 患者氏名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326440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• date (必須) : 予約日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0" y="352044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• time (必須) : 予約時刻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377647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• phone (必須) : 電話番号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40325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• visitType (任意) : 初診/再診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4288536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• symptoms (任意) : 症状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4636008"/>
            <a:ext cx="3657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CORS: https://kojinius.jp のみ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4882896"/>
            <a:ext cx="3657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Secret: RESEND_API_KEY（Secret Manager）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0" y="914400"/>
            <a:ext cx="3840480" cy="557784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29600" y="914400"/>
            <a:ext cx="3840480" cy="502920"/>
          </a:xfrm>
          <a:prstGeom prst="rect">
            <a:avLst/>
          </a:prstGeom>
          <a:solidFill>
            <a:srgbClr val="3A8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321040" y="987552"/>
            <a:ext cx="8229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3A8A5C"/>
                </a:solidFill>
                <a:latin typeface="Noto Sans JP"/>
              </a:rPr>
              <a:t>Scheduler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100584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Noto Sans JP"/>
              </a:rPr>
              <a:t>sendDailyReminders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1508760"/>
            <a:ext cx="3657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735763"/>
                </a:solidFill>
                <a:latin typeface="Noto Sans JP"/>
              </a:rPr>
              <a:t>エンドポイント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1755648"/>
            <a:ext cx="3657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毎日 15:00 JST 自動実行（Cloud Scheduler）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2075688"/>
            <a:ext cx="3657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735763"/>
                </a:solidFill>
                <a:latin typeface="Noto Sans JP"/>
              </a:rPr>
              <a:t>トリガー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232257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</a:pPr>
            <a:r>
              <a:rPr sz="900" b="0">
                <a:solidFill>
                  <a:srgbClr val="4A3040"/>
                </a:solidFill>
                <a:latin typeface="Noto Sans JP"/>
              </a:rPr>
              <a:t>翌日の予約者全員にリマインダーメールを自動送信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2734056"/>
            <a:ext cx="3657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735763"/>
                </a:solidFill>
                <a:latin typeface="Noto Sans JP"/>
              </a:rPr>
              <a:t>パラメータ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3008376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• （パラメータなし） (—) : Firestoreから翌日予約を自動取得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326440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• 対象 (—) : status = pending or confirmed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352044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3040"/>
                </a:solidFill>
                <a:latin typeface="Noto Sans JP"/>
              </a:rPr>
              <a:t>• 送信先 (—) : 各予約の email フィールド（空の場合はスキップ）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3867912"/>
            <a:ext cx="3657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CORS: 不要（Scheduler トリガー）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4114800"/>
            <a:ext cx="3657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7E8E"/>
                </a:solidFill>
                <a:latin typeface="Noto Sans JP"/>
              </a:rPr>
              <a:t>Secret: RESEND_API_KEY（Secret Manager）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8　メール通知設計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182880"/>
            <a:ext cx="1463040" cy="45720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Email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914400"/>
            <a:ext cx="11795760" cy="228600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058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35763"/>
                </a:solidFill>
                <a:latin typeface="Noto Sans JP"/>
              </a:rPr>
              <a:t>メール送信フロー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1920240" cy="8229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JP"/>
              </a:rPr>
              <a:t>患者が予約確定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2468880" y="1417320"/>
            <a:ext cx="1920240" cy="8229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JP"/>
              </a:rPr>
              <a:t>app.js が
Functions呼び出し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417320"/>
            <a:ext cx="1920240" cy="8229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JP"/>
              </a:rPr>
              <a:t>Functions が
Firestore参照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0" y="1417320"/>
            <a:ext cx="1920240" cy="8229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JP"/>
              </a:rPr>
              <a:t>Resend API
経由で送信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18320" y="1417320"/>
            <a:ext cx="1920240" cy="8229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JP"/>
              </a:rPr>
              <a:t>患者メール
受信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169164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79321"/>
                </a:solidFill>
                <a:latin typeface="Noto Sans JP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69164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79321"/>
                </a:solidFill>
                <a:latin typeface="Noto Sans JP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169164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79321"/>
                </a:solidFill>
                <a:latin typeface="Noto Sans JP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169164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79321"/>
                </a:solidFill>
                <a:latin typeface="Noto Sans JP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3337560"/>
            <a:ext cx="3749039" cy="3200400"/>
          </a:xfrm>
          <a:prstGeom prst="rect">
            <a:avLst/>
          </a:prstGeom>
          <a:solidFill>
            <a:srgbClr val="F5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2880" y="3337560"/>
            <a:ext cx="3749039" cy="4572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40156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📩 予約確認メール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3886200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• 送信先：患者（予約フォームのメールアドレス）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4288536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• 送信タイミング：予約確定直後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4690872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• 送信元：noreply@kojinius.jp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5093208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• 件名：【院名】ご予約確認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5495544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• 本文：予約番号・日時・診療メニュー・キャンセル方法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5897880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• 追記：院の住所・電話番号・GoogleマップURL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60520" y="3337560"/>
            <a:ext cx="3749039" cy="3200400"/>
          </a:xfrm>
          <a:prstGeom prst="rect">
            <a:avLst/>
          </a:prstGeom>
          <a:solidFill>
            <a:srgbClr val="F5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60520" y="3337560"/>
            <a:ext cx="3749039" cy="45720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340156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🔔 管理者通知メール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886200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• 送信先：admin@kojinius.jp（固定）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4288536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• 送信タイミング：新規予約確定時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4690872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• 送信元：noreply@kojinius.jp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5093208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• 件名：【新規予約】患者名 日時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495544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• 本文：患者名・日時・電話番号・初再診・症状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9" y="3337560"/>
            <a:ext cx="3749039" cy="3200400"/>
          </a:xfrm>
          <a:prstGeom prst="rect">
            <a:avLst/>
          </a:prstGeom>
          <a:solidFill>
            <a:srgbClr val="F5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38159" y="3337560"/>
            <a:ext cx="3749039" cy="457200"/>
          </a:xfrm>
          <a:prstGeom prst="rect">
            <a:avLst/>
          </a:prstGeom>
          <a:solidFill>
            <a:srgbClr val="3A8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19" y="340156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⏰ 前日リマインダー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19" y="3886200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• 送信先：翌日の予約者（email あるもの）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19" y="4288536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• 送信タイミング：毎日 15:00 JST（Cloud Scheduler）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4690872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• 送信元：noreply@kojinius.jp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5093208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• 件名：【明日のご予約】患者名 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19" y="5495544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• 本文：日時・院名・電話番号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19" y="5897880"/>
            <a:ext cx="3474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3040"/>
                </a:solidFill>
                <a:latin typeface="Noto Sans JP"/>
              </a:rPr>
              <a:t>• 対象：status = pending or confirmed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9　ディレクトリ構成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182880"/>
            <a:ext cx="1463040" cy="45720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File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914400"/>
            <a:ext cx="5303520" cy="557784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0584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BB2BF"/>
                </a:solidFill>
                <a:latin typeface="Courier New"/>
              </a:rPr>
              <a:t>fukumoto-reservation/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24358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5C07B"/>
                </a:solidFill>
                <a:latin typeface="Courier New"/>
              </a:rPr>
              <a:t>├── apps/OnlineAppointSystem/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481328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8C379"/>
                </a:solidFill>
                <a:latin typeface="Courier New"/>
              </a:rPr>
              <a:t>│   ├── index.html  # 予約トップ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7190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8C379"/>
                </a:solidFill>
                <a:latin typeface="Courier New"/>
              </a:rPr>
              <a:t>│   ├── admin.html  # 管理ダッシュボード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568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8C379"/>
                </a:solidFill>
                <a:latin typeface="Courier New"/>
              </a:rPr>
              <a:t>│   ├── login.html  # ログイン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219456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8C379"/>
                </a:solidFill>
                <a:latin typeface="Courier New"/>
              </a:rPr>
              <a:t>│   ├── cancel.html  # 予約キャンセル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243230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8C379"/>
                </a:solidFill>
                <a:latin typeface="Courier New"/>
              </a:rPr>
              <a:t>│   ├── privacy-policy.html  # プライバシーポリシー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670048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8C379"/>
                </a:solidFill>
                <a:latin typeface="Courier New"/>
              </a:rPr>
              <a:t>│   ├── maintenance.html  # メンテナンス画面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29077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8C379"/>
                </a:solidFill>
                <a:latin typeface="Courier New"/>
              </a:rPr>
              <a:t>│   ├── auth-action.html  # 認証アクションハンドラー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314553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5C07B"/>
                </a:solidFill>
                <a:latin typeface="Courier New"/>
              </a:rPr>
              <a:t>│   ├── js/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338328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6B6C2"/>
                </a:solidFill>
                <a:latin typeface="Courier New"/>
              </a:rPr>
              <a:t>│   │   ├── firebase.js  # Firebase初期化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62102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6B6C2"/>
                </a:solidFill>
                <a:latin typeface="Courier New"/>
              </a:rPr>
              <a:t>│   │   ├── auth.js  # 認証ロジック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3858768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6B6C2"/>
                </a:solidFill>
                <a:latin typeface="Courier New"/>
              </a:rPr>
              <a:t>│   │   ├── app.js  # 患者側予約ロジック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40965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6B6C2"/>
                </a:solidFill>
                <a:latin typeface="Courier New"/>
              </a:rPr>
              <a:t>│   │   ├── admin.js  # 管理側ロジック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433425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6B6C2"/>
                </a:solidFill>
                <a:latin typeface="Courier New"/>
              </a:rPr>
              <a:t>│   │   ├── cancel.js  # キャンセルロジック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457200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6B6C2"/>
                </a:solidFill>
                <a:latin typeface="Courier New"/>
              </a:rPr>
              <a:t>│   │   ├── config.js  # Firebase設定値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480974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6B6C2"/>
                </a:solidFill>
                <a:latin typeface="Courier New"/>
              </a:rPr>
              <a:t>│   │   └── utils.js  # 共通ユーティリティ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5047488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678DD"/>
                </a:solidFill>
                <a:latin typeface="Courier New"/>
              </a:rPr>
              <a:t>│   ├── css/style.css  # スタイルシート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52852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5C07B"/>
                </a:solidFill>
                <a:latin typeface="Courier New"/>
              </a:rPr>
              <a:t>│   └── fonts/  # NotoSansJP (PDF用)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552297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5C07B"/>
                </a:solidFill>
                <a:latin typeface="Courier New"/>
              </a:rPr>
              <a:t>├── functions/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576072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6B6C2"/>
                </a:solidFill>
                <a:latin typeface="Courier New"/>
              </a:rPr>
              <a:t>│   └── index.js  # Cloud Functions 3本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599846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6C75"/>
                </a:solidFill>
                <a:latin typeface="Courier New"/>
              </a:rPr>
              <a:t>├── firestore.rules  # セキュリティルール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236208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6C75"/>
                </a:solidFill>
                <a:latin typeface="Courier New"/>
              </a:rPr>
              <a:t>├── firestore.indexes.json  # 複合インデックス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4739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6C75"/>
                </a:solidFill>
                <a:latin typeface="Courier New"/>
              </a:rPr>
              <a:t>└── firebase.json  # Hosting設定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0" y="914400"/>
            <a:ext cx="6309360" cy="5577840"/>
          </a:xfrm>
          <a:prstGeom prst="rect">
            <a:avLst/>
          </a:prstGeom>
          <a:solidFill>
            <a:srgbClr val="F5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160" y="10058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35763"/>
                </a:solidFill>
                <a:latin typeface="Noto Sans JP"/>
              </a:rPr>
              <a:t>主要ファイルの役割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141732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1100" b="1">
                <a:solidFill>
                  <a:srgbClr val="735763"/>
                </a:solidFill>
                <a:latin typeface="Noto Sans JP"/>
              </a:rPr>
              <a:t>firebase.js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1417320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4A3040"/>
                </a:solidFill>
                <a:latin typeface="Noto Sans JP"/>
              </a:rPr>
              <a:t>Firebase初期化・エミュレーター対応。db / auth をエクスポート。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0" y="2039112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1100" b="1">
                <a:solidFill>
                  <a:srgbClr val="735763"/>
                </a:solidFill>
                <a:latin typeface="Noto Sans JP"/>
              </a:rPr>
              <a:t>auth.js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2039112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4A3040"/>
                </a:solidFill>
                <a:latin typeface="Noto Sans JP"/>
              </a:rPr>
              <a:t>requireAdmin()・login()・logout()・パスワードリセット関数。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52160" y="2660904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1100" b="1">
                <a:solidFill>
                  <a:srgbClr val="735763"/>
                </a:solidFill>
                <a:latin typeface="Noto Sans JP"/>
              </a:rPr>
              <a:t>app.js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2660904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4A3040"/>
                </a:solidFill>
                <a:latin typeface="Noto Sans JP"/>
              </a:rPr>
              <a:t>患者側：カレンダー・スロット・予約トランザクション・PDF生成。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0" y="3282696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1100" b="1">
                <a:solidFill>
                  <a:srgbClr val="735763"/>
                </a:solidFill>
                <a:latin typeface="Noto Sans JP"/>
              </a:rPr>
              <a:t>admin.js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79" y="3282696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4A3040"/>
                </a:solidFill>
                <a:latin typeface="Noto Sans JP"/>
              </a:rPr>
              <a:t>管理側：onSnapshot リアルタイム同期・設定モーダル・CSV出力。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52160" y="390448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1100" b="1">
                <a:solidFill>
                  <a:srgbClr val="735763"/>
                </a:solidFill>
                <a:latin typeface="Noto Sans JP"/>
              </a:rPr>
              <a:t>cancel.js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79" y="3904488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4A3040"/>
                </a:solidFill>
                <a:latin typeface="Noto Sans JP"/>
              </a:rPr>
              <a:t>予約キャンセル：予約検索・電話番号照合・writeBatch 更新。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52160" y="452628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1100" b="1">
                <a:solidFill>
                  <a:srgbClr val="735763"/>
                </a:solidFill>
                <a:latin typeface="Noto Sans JP"/>
              </a:rPr>
              <a:t>utils.js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79" y="4526280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4A3040"/>
                </a:solidFill>
                <a:latin typeface="Noto Sans JP"/>
              </a:rPr>
              <a:t>DAY_NAMES・formatDate・THEMES・applyTheme・toHankaku・esc。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0" y="5148072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1100" b="1">
                <a:solidFill>
                  <a:srgbClr val="735763"/>
                </a:solidFill>
                <a:latin typeface="Noto Sans JP"/>
              </a:rPr>
              <a:t>functions/</a:t>
            </a:r>
          </a:p>
          <a:p>
            <a:pPr algn="l">
              <a:lnSpc>
                <a:spcPts val="1400"/>
              </a:lnSpc>
            </a:pPr>
            <a:r>
              <a:rPr sz="1100" b="1">
                <a:solidFill>
                  <a:srgbClr val="735763"/>
                </a:solidFill>
                <a:latin typeface="Noto Sans JP"/>
              </a:rPr>
              <a:t>index.js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79" y="5148072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4A3040"/>
                </a:solidFill>
                <a:latin typeface="Noto Sans JP"/>
              </a:rPr>
              <a:t>sendReservationEmail・notifyAdminOnReservation・</a:t>
            </a:r>
          </a:p>
          <a:p>
            <a:pPr algn="l">
              <a:lnSpc>
                <a:spcPts val="1400"/>
              </a:lnSpc>
            </a:pPr>
            <a:r>
              <a:rPr sz="1000" b="0">
                <a:solidFill>
                  <a:srgbClr val="4A3040"/>
                </a:solidFill>
                <a:latin typeface="Noto Sans JP"/>
              </a:rPr>
              <a:t>sendDailyReminders の3関数。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52160" y="5769864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1100" b="1">
                <a:solidFill>
                  <a:srgbClr val="735763"/>
                </a:solidFill>
                <a:latin typeface="Noto Sans JP"/>
              </a:rPr>
              <a:t>firestore</a:t>
            </a:r>
          </a:p>
          <a:p>
            <a:pPr algn="l">
              <a:lnSpc>
                <a:spcPts val="1400"/>
              </a:lnSpc>
            </a:pPr>
            <a:r>
              <a:rPr sz="1100" b="1">
                <a:solidFill>
                  <a:srgbClr val="735763"/>
                </a:solidFill>
                <a:latin typeface="Noto Sans JP"/>
              </a:rPr>
              <a:t>.rules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8079" y="5769864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4A3040"/>
                </a:solidFill>
                <a:latin typeface="Noto Sans JP"/>
              </a:rPr>
              <a:t>デフォルト拒否・isAdmin()・isValidReservation()・</a:t>
            </a:r>
          </a:p>
          <a:p>
            <a:pPr algn="l">
              <a:lnSpc>
                <a:spcPts val="1400"/>
              </a:lnSpc>
            </a:pPr>
            <a:r>
              <a:rPr sz="1000" b="0">
                <a:solidFill>
                  <a:srgbClr val="4A3040"/>
                </a:solidFill>
                <a:latin typeface="Noto Sans JP"/>
              </a:rPr>
              <a:t>各コレクション権限定義。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5A4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731520" cy="64008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Noto Sans JP"/>
              </a:rPr>
              <a:t>詳細設計書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546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FCF0DE"/>
                </a:solidFill>
                <a:latin typeface="Noto Sans JP"/>
              </a:rPr>
              <a:t>福元鍼灸整骨院 オンライン予約システム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840480"/>
            <a:ext cx="1645920" cy="36576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CF0DE"/>
                </a:solidFill>
                <a:latin typeface="Noto Sans JP"/>
              </a:rPr>
              <a:t>• Firebase（Firestore / Auth / Hosting / Functions）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97679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CF0DE"/>
                </a:solidFill>
                <a:latin typeface="Noto Sans JP"/>
              </a:rPr>
              <a:t>• Firestoreルールによるデフォルト拒否 + admin クレーム認可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617719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CF0DE"/>
                </a:solidFill>
                <a:latin typeface="Noto Sans JP"/>
              </a:rPr>
              <a:t>• パスワード 8文字以上 + 再認証必須 + セッション限定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37759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CF0DE"/>
                </a:solidFill>
                <a:latin typeface="Noto Sans JP"/>
              </a:rPr>
              <a:t>• 全フィールドバリデーション（クライアント + Firestoreルール二重）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57799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CF0DE"/>
                </a:solidFill>
                <a:latin typeface="Noto Sans JP"/>
              </a:rPr>
              <a:t>• メール通知 3種（Resend API + Secret Manager）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