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11274552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Online Appointment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8F5EE"/>
                </a:solidFill>
                <a:latin typeface="Noto Sans JP"/>
              </a:rPr>
              <a:t>詳細設計書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8F5EE"/>
                </a:solidFill>
                <a:latin typeface="Noto Sans JP"/>
              </a:rPr>
              <a:t>2026年3月  |  React SPA v3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目次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システム概要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058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27048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技術スタック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8132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38528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02536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95681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ディレクトリ構成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95681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14016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478024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43230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Firestore データモデル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432304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53512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9077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Cloud Functions 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07792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64992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429000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383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予約作成フロー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3832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p.11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840480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904488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38587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認証・認可設計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38587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315968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1051560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1005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Firestore セキュリティルール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10058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p.14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1463040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1527048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148132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XSS・入力バリデーション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148132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1938528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2002536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195681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レート制限・監査ログ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64240" y="195681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p.16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414016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2478024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243230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患者向け予約フロー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64240" y="2432304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p.18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889504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2953512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29077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管理者ダッシュボード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2907792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p.19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364992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429000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33832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設定画面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33832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p.20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3840480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3904488"/>
            <a:ext cx="457200" cy="3657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385876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B4A"/>
                </a:solidFill>
                <a:latin typeface="Noto Sans JP"/>
              </a:rPr>
              <a:t>デプロイ構成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38587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6B7C9E"/>
                </a:solidFill>
                <a:latin typeface="Noto Sans JP"/>
              </a:rPr>
              <a:t>p.22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315968"/>
            <a:ext cx="5486400" cy="18288"/>
          </a:xfrm>
          <a:prstGeom prst="rect">
            <a:avLst/>
          </a:prstGeom>
          <a:solidFill>
            <a:srgbClr val="6B7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1. システム概要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システム目的・主要機能・非機能要件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技術スタック（React SPA v3 + Firebase + Node.js 24）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システム概要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5661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35661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システム目的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・鍼灸整骨院向けオンライン予約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・24時間365日受付対応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・管理者はリアルタイムで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予約管理可能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・患者・院側双方の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利便性向上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05840"/>
            <a:ext cx="35661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005840"/>
            <a:ext cx="35661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主要機能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・患者向け予約フロー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（4ステップ: 日時→情報入力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→確認→完了）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・予約管理ダッシュボード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・設定管理（5タブ）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・ユーザー管理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・パスワード変更強制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05840"/>
            <a:ext cx="35661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005840"/>
            <a:ext cx="35661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非機能要件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・セキュリティ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（12脆弱性修正済み）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・CSP ヘッダー完全実装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・レート制限（DoS対策）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・モバイル対応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・日本語フォント対応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・SSL/TLS（Firebase）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技術スタック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技術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5661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35661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フロントエンド (oas-spa/)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・Vite 6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・React 19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・TypeScript 5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・Tailwind CSS 3.4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・React Router 7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・Firebase v10 SDK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・pdf-lib / fontkit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（PDF 生成）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・clsx / tailwind-merge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05840"/>
            <a:ext cx="35661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005840"/>
            <a:ext cx="35661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バックエンド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・Firebase Authentication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（Email/Password）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・Cloud Firestore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（asia-northeast1）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・Cloud Functions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（Node.js 24）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・firebase-admin v13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・Resend（メール送信）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005840"/>
            <a:ext cx="35661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005840"/>
            <a:ext cx="35661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1051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インフラ・ツール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600200"/>
            <a:ext cx="32918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・Firebase Hosting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（マルチサイト）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・カスタムドメイン: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oas.kojinius.jp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・さくらインターネット DNS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・Playwright（E2Eテスト）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・python-pptx（設計書生成）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2. アーキテクチャ設計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ディレクトリ構成（oas-spa/ SPA 構造）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Firestore データモデル（5 コレクション）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Cloud Functions 設計（7 functions）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予約作成フロー（createReservation）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ディレクトリ構成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構成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fukumoto-reservation/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├── oas-spa/                    # React SPA（患者向け + 管理者）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├── src/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├── pages/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│   ├── booking/        # Index / DateTimeSelect / PatientForm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│   │                   #   / Confirm / Complete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│   ├── admin/          # Dashboard / Settings / ChangePassword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│   ├── Cancel.tsx      # /cancel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│   ├── Login.tsx       # /login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│   └── PrivacyPolicy.tsx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├── components/         # ui / shared / layout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├── contexts/           # Auth / Clinic / Theme / Toast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├── hooks/              # useAuth / useAdmin / useReservation etc.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├── types/              # TypeScript 型定義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│   └── utils/              # cn / date / validation / security / zip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│   └── dist/                   # ビルド出力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├── functions/index.js          # Cloud Functions (7 functions)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├── firestore.rules             # セキュリティルール</a:t>
            </a:r>
          </a:p>
          <a:p>
            <a:pPr algn="l">
              <a:lnSpc>
                <a:spcPts val="2100"/>
              </a:lnSpc>
            </a:pPr>
            <a:r>
              <a:rPr sz="1300" b="0">
                <a:solidFill>
                  <a:srgbClr val="1A2B4A"/>
                </a:solidFill>
                <a:latin typeface="Courier New"/>
              </a:rPr>
              <a:t>└── firebase.json               # Hosting マルチサイト設定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Firestore データモデル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DB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3949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3949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コレクション一覧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1206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reservations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id, name, furigana, date, time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phone, status, createdAt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email?, zip?, address?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symptoms?, visitType?,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insurance?, gender?, birthdate?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slots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slotId (date_time 形式)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reservationId（参照）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settings / clinic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clinicName, address, phone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businessHours, holidays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announcement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cancelCutoffMinutes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users / {uid}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mustChangePassword: boolean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audit_logs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event, data, severity, timestamp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05840"/>
            <a:ext cx="53949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05840"/>
            <a:ext cx="53949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status の値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51206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reservations.status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・pending    → 未確認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・confirmed  → 確認済み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・cancelled  → キャンセル済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slots コレクション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・slots は公開読み取り可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  （患者向けカレンダー用）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・書き込みは管理者のみ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audit_logs イベント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・reservation.created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・reservation.slot_taken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・reservation.cancelled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・user.created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・user.deleted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・rate_limit.exceeded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Cloud Functions 設計（7 functions）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2926080" cy="6583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createReservation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4AF37"/>
                </a:solidFill>
                <a:latin typeface="Noto Sans JP"/>
              </a:rPr>
              <a:t>onRequest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05840"/>
            <a:ext cx="8412480" cy="65836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143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予約作成・メール送信・スロット管理・監査ログ。レート制限・スキーマ検証あり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2926080" cy="6583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verifyReservation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9397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4AF37"/>
                </a:solidFill>
                <a:latin typeface="Noto Sans JP"/>
              </a:rPr>
              <a:t>onRequest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09928"/>
            <a:ext cx="8412480" cy="65836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84708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電話番号照合でキャンセル前の予約照会。電話番号ミスマッチは404で列挙攻撃防止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14016"/>
            <a:ext cx="2926080" cy="6583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cancelReservation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980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4AF37"/>
                </a:solidFill>
                <a:latin typeface="Noto Sans JP"/>
              </a:rPr>
              <a:t>onRequest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2414016"/>
            <a:ext cx="8412480" cy="65836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551176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電話番号照合後 Firestore トランザクションでキャンセル。TOCTOU 修正済み [SEC-8]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18104"/>
            <a:ext cx="2926080" cy="6583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1912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createAdminUser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021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4AF37"/>
                </a:solidFill>
                <a:latin typeface="Noto Sans JP"/>
              </a:rPr>
              <a:t>onRequest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3118104"/>
            <a:ext cx="8412480" cy="65836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0440" y="32552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管理者作成・admin カスタムクレーム付与・初期パスワード変更フラグ設定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22192"/>
            <a:ext cx="2926080" cy="6583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8953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listUsers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206240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4AF37"/>
                </a:solidFill>
                <a:latin typeface="Noto Sans JP"/>
              </a:rPr>
              <a:t>onRequest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3822192"/>
            <a:ext cx="8412480" cy="65836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0440" y="395935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管理者一覧取得（admin クレーム必須）。メールはマスク表示 [SEC-6]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26280"/>
            <a:ext cx="2926080" cy="6583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599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deleteUser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103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4AF37"/>
                </a:solidFill>
                <a:latin typeface="Noto Sans JP"/>
              </a:rPr>
              <a:t>onRequest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4526280"/>
            <a:ext cx="8412480" cy="65836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ユーザー削除（admin クレーム必須）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30368"/>
            <a:ext cx="2926080" cy="6583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sendDailyReminders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61441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4AF37"/>
                </a:solidFill>
                <a:latin typeface="Noto Sans JP"/>
              </a:rPr>
              <a:t>onSchedule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5230368"/>
            <a:ext cx="8412480" cy="65836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53675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翌日予約へのリマインダーメール一括送信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予約作成フロー（createReservation）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フロー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" cy="5669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B4A"/>
                </a:solidFill>
                <a:latin typeface="Noto Sans JP"/>
              </a:rPr>
              <a:t>①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005840"/>
            <a:ext cx="2743200" cy="56692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11556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レート制限チェック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005840"/>
            <a:ext cx="7955279" cy="56692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13385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5 req/min per IP。超過時は 429 を返す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64208"/>
            <a:ext cx="548640" cy="5669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B4A"/>
                </a:solidFill>
                <a:latin typeface="Noto Sans JP"/>
              </a:rPr>
              <a:t>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1664208"/>
            <a:ext cx="2743200" cy="56692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177393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入力バリデーション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664208"/>
            <a:ext cx="7955279" cy="56692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7639" y="179222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必須フィールド・型・長さ・電話番号・メール形式を検証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22576"/>
            <a:ext cx="548640" cy="5669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39572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B4A"/>
                </a:solidFill>
                <a:latin typeface="Noto Sans JP"/>
              </a:rPr>
              <a:t>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2322576"/>
            <a:ext cx="2743200" cy="56692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243230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スロット競合チェック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322576"/>
            <a:ext cx="7955279" cy="56692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245059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slots/{date_time} を transaction.get で確認。取得済みなら SLOT_TAKEN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80944"/>
            <a:ext cx="548640" cy="5669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5409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B4A"/>
                </a:solidFill>
                <a:latin typeface="Noto Sans JP"/>
              </a:rPr>
              <a:t>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" y="2980944"/>
            <a:ext cx="2743200" cy="56692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309067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reservations ドキュメント作成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2980944"/>
            <a:ext cx="7955279" cy="56692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77639" y="31089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Firestore transaction 内で atomic に作成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39312"/>
            <a:ext cx="548640" cy="5669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1246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B4A"/>
                </a:solidFill>
                <a:latin typeface="Noto Sans JP"/>
              </a:rPr>
              <a:t>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3639312"/>
            <a:ext cx="2743200" cy="56692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3749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スロット予約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0" y="3639312"/>
            <a:ext cx="7955279" cy="56692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77639" y="376732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slots/{date_time} に reservationId を書き込み（同一 transaction）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97680"/>
            <a:ext cx="548640" cy="5669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37083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B4A"/>
                </a:solidFill>
                <a:latin typeface="Noto Sans JP"/>
              </a:rPr>
              <a:t>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" y="4297680"/>
            <a:ext cx="2743200" cy="56692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44074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メール送信（非同期）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0" y="4297680"/>
            <a:ext cx="7955279" cy="56692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77639" y="442569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Resend API で患者・院双方に確認メール送信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56048"/>
            <a:ext cx="548640" cy="5669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029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B4A"/>
                </a:solidFill>
                <a:latin typeface="Noto Sans JP"/>
              </a:rPr>
              <a:t>⑦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51560" y="4956048"/>
            <a:ext cx="2743200" cy="56692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06577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Noto Sans JP"/>
              </a:rPr>
              <a:t>監査ログ記録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0" y="4956048"/>
            <a:ext cx="7955279" cy="566928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77639" y="508406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B4A"/>
                </a:solidFill>
                <a:latin typeface="Noto Sans JP"/>
              </a:rPr>
              <a:t>reservation.created イベントを audit_logs に保存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3. セキュリティ設計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認証・認可設計（admin クレーム・初期パスワード強制変更）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Firestore セキュリティルール（isAdmin / isValidReservation）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XSS・入力バリデーション（SEC-12/15）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レート制限・監査ログ・その他修正（12 脆弱性対応済み）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認証・認可設計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Auth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認証方式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・Firebase Authentication（Email / Password）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・管理者: admin カスタムクレーム（server-side 付与のみ）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・セッション: browserSessionPersistence（タブ閉じでセッション消滅）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認可ルール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・患者向けページ（/、/cancel、/privacy-policy）: 認証不要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・管理者ページ（/admin、/admin/settings）: admin クレーム必須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・Firestore Rules: isAdmin() カスタム関数で厳密チェック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初期パスワード強制変更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・createAdminUser 時に mustChangePassword=true を Firestore に保存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・AdminLayout: mustChangePassword=true なら /admin/change-password?forced=1 に強制リダイレクト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・パスワード変更完了後に mustChangePassword=false に更新（本人のみ許可）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パスワードリセット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・sendPasswordResetEmail で再設定リンク送信</a:t>
            </a:r>
          </a:p>
          <a:p>
            <a:pPr algn="l">
              <a:lnSpc>
                <a:spcPts val="23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・/auth-action でメール認証アクション処理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Firestore セキュリティルール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430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// デフォルト拒否（全ルートを安全側に倒す）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match /{document=**} { allow read, write: if false; }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// isAdmin(): admin カスタムクレームで判定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function isAdmin() {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return request.auth != null &amp;&amp; request.auth.token.admin == true;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}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// isValidReservation(): 必須フィールド・型・長さを検証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match /reservations/{id} {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allow read, update, delete: if isAdmin();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allow create: if isAdmin() &amp;&amp; isValidReservation(request.resource.data);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// 未認証クライアントからの直接書き込みは全て拒否 [SEC-18]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}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match /slots/{slotId} {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allow read: if true;   // カレンダー表示のため公開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allow write: if isAdmin();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}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match /users/{userId} {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allow read: if request.auth.uid == userId;  // 本人のみ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allow write: if isAdmin();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allow update: if request.auth.uid == userId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  &amp;&amp; request.resource.data.diff(resource.data)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         .affectedKeys().hasOnly(['mustChangePassword']);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}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match /audit_logs/{logId} { allow read, create: if isAdmin(); }</a:t>
            </a:r>
          </a:p>
          <a:p>
            <a:pPr algn="l">
              <a:lnSpc>
                <a:spcPts val="1800"/>
              </a:lnSpc>
            </a:pPr>
            <a:r>
              <a:rPr sz="1150" b="0">
                <a:solidFill>
                  <a:srgbClr val="F8F5EE"/>
                </a:solidFill>
                <a:latin typeface="Courier New"/>
              </a:rPr>
              <a:t>match /settings/{settingId} { allow read: if true; allow write: if isAdmin();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XSS・入力バリデーション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3949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3949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クライアントサイド対策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1206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JSX 自動エスケープ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・React JSX は {value} を自動エスケープ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・innerHTML 直接操作を排除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入力バリデーション (utils/validation.ts)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・isStrongPassword(): 4 カテゴリ必須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  (大文字・小文字・数字・記号)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・isValidEmail(): RFC 準拠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  連続ドット・末尾ドット拒否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・toHankaku(): 全角→半角正規化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  (utils/security.ts)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郵便番号 API 検証 [SEC-12]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・Array.isArray() チェック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・各フィールドは string &amp;&amp; slice(0,50)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05840"/>
            <a:ext cx="539496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05840"/>
            <a:ext cx="53949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Noto Sans JP"/>
              </a:rPr>
              <a:t>サーバーサイド・インフラ対策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51206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Cloud Functions バリデーション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・validatePasswordComplexity()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・validateEmail()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・全 Cloud Function で実施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CSP ヘッダー [SEC-15]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・firebase.json で全ルールを設定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・script-src: *.firebase*, CDN のみ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・connect-src: *.run.app,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  zipcloud, holidays-jp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・frame-src: Google Maps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・X-Frame-Options: SAMEORIGIN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・X-Content-Type-Options: nosniff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・Strict-Transport-Security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監査ログ [SEC-14]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・auditLog() でセキュリティ</a:t>
            </a:r>
          </a:p>
          <a:p>
            <a:pPr algn="l">
              <a:lnSpc>
                <a:spcPts val="20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  イベントを GCP Cloud Logging 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レート制限・監査ログ・その他修正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レート制限 [SEC-11]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・全 Cloud Function に IP ベースのレート制限を実装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・5 req/min per IP（60 秒スライディングウィンドウ・インメモリ Map）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・超過時: 429 Too Many Requests を返し rate_limit.exceeded イベントをログ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キャンセル競合防止 TOCTOU 修正 [SEC-8]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・cancelReservation は Firestore transaction 内で再度ステータスを確認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・同時キャンセルリクエスト時の二重キャンセルを防止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その他セキュリティ修正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・[SEC-3]  予約照会を verifyReservation CF 経由に移行（電話番号照合必須）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・[SEC-4]  createAdminUser: Firestore 書き込み失敗時は Auth ユーザーもロールバック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・[SEC-5]  キャンセルを cancelReservation CF 経由に移行（未認証 update 廃止）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・[SEC-6]  管理者 UI でメールアドレスをマスク表示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・[SEC-10] window グローバル関数を廃止（addEventListener に移行）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・[SEC-13] Firebase API キー — Won't Fix（公式設計・ドメイン/API 制限済み）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4. 画面設計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患者向け予約フロー（4 ステップ）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管理者ダッシュボード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設定画面（5 タブ）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患者向け予約フロー（4ステップ）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画面</a:t>
            </a:r>
          </a:p>
        </p:txBody>
      </p:sp>
      <p:pic>
        <p:nvPicPr>
          <p:cNvPr id="6" name="Picture 5" descr="01_calenda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3152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1005840"/>
            <a:ext cx="393192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39" y="1188720"/>
            <a:ext cx="3657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Step 1: 日時選択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・カレンダーで希望日を選択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・利用可能な時間枠をクリック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Step 2: 情報入力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・氏名・ふりがな・電話番号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・郵便番号→住所自動補完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・初診/再診・保険有無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Step 3: 確認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・入力内容の最終確認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Step 4: 完了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・予約ID 発行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・確認メール自動送信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管理者ダッシュボード（/admin）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画面</a:t>
            </a:r>
          </a:p>
        </p:txBody>
      </p:sp>
      <p:pic>
        <p:nvPicPr>
          <p:cNvPr id="6" name="Picture 5" descr="09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3152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1005840"/>
            <a:ext cx="393192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39" y="1188720"/>
            <a:ext cx="3657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KPI カード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・本日の予約数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・今月の予約数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・新規患者数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・未確認件数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予約一覧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・ステータス・日付・キーワード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で絞り込み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・行クリックで詳細モーダル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エクスポート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・CSV ダウンロード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・PDF 印刷（pdf-lib）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設定画面（/admin/settings）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画面</a:t>
            </a:r>
          </a:p>
        </p:txBody>
      </p:sp>
      <p:pic>
        <p:nvPicPr>
          <p:cNvPr id="6" name="Picture 5" descr="11_settings_clinic_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73152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55279" y="1005840"/>
            <a:ext cx="3931920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39" y="1188720"/>
            <a:ext cx="3657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タブ構成（5 タブ）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・基本情報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院名・住所・電話番号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・営業時間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曜日別 ON/OFF + 時間設定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・休日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カレンダーで休診日登録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・お知らせ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トップバナーの ON/OFF + テキスト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・アカウント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管理者一覧・追加・削除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パスワード変更リンク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/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## 保存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・「保存」ボタンで Firestore に</a:t>
            </a:r>
          </a:p>
          <a:p>
            <a:pPr algn="l">
              <a:lnSpc>
                <a:spcPts val="2200"/>
              </a:lnSpc>
            </a:pPr>
            <a:r>
              <a:rPr sz="1300" b="0">
                <a:solidFill>
                  <a:srgbClr val="1A2B4A"/>
                </a:solidFill>
                <a:latin typeface="Noto Sans JP"/>
              </a:rPr>
              <a:t>　即時反映（merge: true）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1274552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JP"/>
              </a:rPr>
              <a:t>5. 運用・デプロイ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Firebase Hosting マルチサイト構成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デプロイコマンド（--only スコープ厳守）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5EE"/>
                </a:solidFill>
                <a:latin typeface="Noto Sans JP"/>
              </a:rPr>
              <a:t>  レガシー URL リダイレクト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Noto Sans JP"/>
              </a:rPr>
              <a:t>デプロイ構成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64592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A2B4A"/>
                </a:solidFill>
                <a:latin typeface="Noto Sans JP"/>
              </a:rPr>
              <a:t>運用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5303520"/>
          </a:xfrm>
          <a:prstGeom prst="rect">
            <a:avLst/>
          </a:prstGeom>
          <a:solidFill>
            <a:srgbClr val="F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## Firebase Hosting マルチサイト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・portfolio: kojinius.jp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・oas: oas.kojinius.jp  ← OAS SPA の配信先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/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## デプロイコマンド（スコープ指定を厳守）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# Firestore ルール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firebase deploy --only firestore:rules --project project-3040e21e-879f-4c66-a7d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/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# Cloud Functions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firebase deploy --only functions --project project-3040e21e-879f-4c66-a7d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/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# Hosting (OAS SPA + portfolio)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firebase deploy --only hosting:oas,hosting:portfolio --project project-3040e21e-879f-4c66-a7d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/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## レガシー URL リダイレクト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・旧 MPA URL（/index.html 等）→ SPA ルート（/）に 301 リダイレクト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・クライアントへ旧 URL を案内済みの場合も自動転送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/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## Firebase プロジェクト</a:t>
            </a:r>
          </a:p>
          <a:p>
            <a:pPr algn="l">
              <a:lnSpc>
                <a:spcPts val="2100"/>
              </a:lnSpc>
            </a:pPr>
            <a:r>
              <a:rPr sz="1250" b="0">
                <a:solidFill>
                  <a:srgbClr val="1A2B4A"/>
                </a:solidFill>
                <a:latin typeface="Courier New"/>
              </a:rPr>
              <a:t>・project-3040e21e-879f-4c66-a7d（AMS と共有）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017520"/>
            <a:ext cx="11274552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Online Appointment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8F5EE"/>
                </a:solidFill>
                <a:latin typeface="Noto Sans JP"/>
              </a:rPr>
              <a:t>詳細設計書  以上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4AF37"/>
                </a:solidFill>
                <a:latin typeface="Noto Sans JP"/>
              </a:rPr>
              <a:t>oas.kojinius.jp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