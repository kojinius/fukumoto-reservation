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0"/>
            <a:ext cx="12188952" cy="13716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0"/>
            <a:ext cx="112745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Noto Sans JP"/>
              </a:rPr>
              <a:t>Online Appointment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8F5EE"/>
                </a:solidFill>
                <a:latin typeface="Noto Sans JP"/>
              </a:rPr>
              <a:t>詳細設計書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66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8F5EE"/>
                </a:solidFill>
                <a:latin typeface="Noto Sans JP"/>
              </a:rPr>
              <a:t>2026年3月  |  React SPA v4（i18n / PWA / 問診票 / 診察履歴 / APPI対応）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Noto Sans JP"/>
              </a:rPr>
              <a:t>目次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57200" cy="3657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JP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0058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4A"/>
                </a:solidFill>
                <a:latin typeface="Noto Sans JP"/>
              </a:rPr>
              <a:t>システム概要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10058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6B7C9E"/>
                </a:solidFill>
                <a:latin typeface="Noto Sans JP"/>
              </a:rPr>
              <a:t>p.4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5486400" cy="18288"/>
          </a:xfrm>
          <a:prstGeom prst="rect">
            <a:avLst/>
          </a:prstGeom>
          <a:solidFill>
            <a:srgbClr val="6B7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27048"/>
            <a:ext cx="457200" cy="3657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JP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48132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4A"/>
                </a:solidFill>
                <a:latin typeface="Noto Sans JP"/>
              </a:rPr>
              <a:t>技術スタック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148132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6B7C9E"/>
                </a:solidFill>
                <a:latin typeface="Noto Sans JP"/>
              </a:rPr>
              <a:t>p.5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938528"/>
            <a:ext cx="5486400" cy="18288"/>
          </a:xfrm>
          <a:prstGeom prst="rect">
            <a:avLst/>
          </a:prstGeom>
          <a:solidFill>
            <a:srgbClr val="6B7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002536"/>
            <a:ext cx="457200" cy="3657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JP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1956816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4A"/>
                </a:solidFill>
                <a:latin typeface="Noto Sans JP"/>
              </a:rPr>
              <a:t>ディレクトリ構成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956816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6B7C9E"/>
                </a:solidFill>
                <a:latin typeface="Noto Sans JP"/>
              </a:rPr>
              <a:t>p.7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414016"/>
            <a:ext cx="5486400" cy="18288"/>
          </a:xfrm>
          <a:prstGeom prst="rect">
            <a:avLst/>
          </a:prstGeom>
          <a:solidFill>
            <a:srgbClr val="6B7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478024"/>
            <a:ext cx="457200" cy="3657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JP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432304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4A"/>
                </a:solidFill>
                <a:latin typeface="Noto Sans JP"/>
              </a:rPr>
              <a:t>Firestore データモデル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2432304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6B7C9E"/>
                </a:solidFill>
                <a:latin typeface="Noto Sans JP"/>
              </a:rPr>
              <a:t>p.8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889504"/>
            <a:ext cx="5486400" cy="18288"/>
          </a:xfrm>
          <a:prstGeom prst="rect">
            <a:avLst/>
          </a:prstGeom>
          <a:solidFill>
            <a:srgbClr val="6B7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953512"/>
            <a:ext cx="457200" cy="3657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JP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290779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4A"/>
                </a:solidFill>
                <a:latin typeface="Noto Sans JP"/>
              </a:rPr>
              <a:t>Cloud Functions 設計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290779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6B7C9E"/>
                </a:solidFill>
                <a:latin typeface="Noto Sans JP"/>
              </a:rPr>
              <a:t>p.9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364992"/>
            <a:ext cx="5486400" cy="18288"/>
          </a:xfrm>
          <a:prstGeom prst="rect">
            <a:avLst/>
          </a:prstGeom>
          <a:solidFill>
            <a:srgbClr val="6B7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429000"/>
            <a:ext cx="457200" cy="3657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JP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33832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4A"/>
                </a:solidFill>
                <a:latin typeface="Noto Sans JP"/>
              </a:rPr>
              <a:t>予約作成フロー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3832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6B7C9E"/>
                </a:solidFill>
                <a:latin typeface="Noto Sans JP"/>
              </a:rPr>
              <a:t>p.11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840480"/>
            <a:ext cx="5486400" cy="18288"/>
          </a:xfrm>
          <a:prstGeom prst="rect">
            <a:avLst/>
          </a:prstGeom>
          <a:solidFill>
            <a:srgbClr val="6B7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3904488"/>
            <a:ext cx="457200" cy="3657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JP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385876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4A"/>
                </a:solidFill>
                <a:latin typeface="Noto Sans JP"/>
              </a:rPr>
              <a:t>認証・認可設計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0" y="385876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6B7C9E"/>
                </a:solidFill>
                <a:latin typeface="Noto Sans JP"/>
              </a:rPr>
              <a:t>p.13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315968"/>
            <a:ext cx="5486400" cy="18288"/>
          </a:xfrm>
          <a:prstGeom prst="rect">
            <a:avLst/>
          </a:prstGeom>
          <a:solidFill>
            <a:srgbClr val="6B7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4379976"/>
            <a:ext cx="457200" cy="3657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JP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4334256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4A"/>
                </a:solidFill>
                <a:latin typeface="Noto Sans JP"/>
              </a:rPr>
              <a:t>Firestore セキュリティルール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0" y="4334256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6B7C9E"/>
                </a:solidFill>
                <a:latin typeface="Noto Sans JP"/>
              </a:rPr>
              <a:t>p.14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791456"/>
            <a:ext cx="5486400" cy="18288"/>
          </a:xfrm>
          <a:prstGeom prst="rect">
            <a:avLst/>
          </a:prstGeom>
          <a:solidFill>
            <a:srgbClr val="6B7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4855464"/>
            <a:ext cx="457200" cy="3657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JP"/>
              </a:rPr>
              <a:t>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" y="4809744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4A"/>
                </a:solidFill>
                <a:latin typeface="Noto Sans JP"/>
              </a:rPr>
              <a:t>XSS・入力バリデーション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0" y="4809744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6B7C9E"/>
                </a:solidFill>
                <a:latin typeface="Noto Sans JP"/>
              </a:rPr>
              <a:t>p.15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266944"/>
            <a:ext cx="5486400" cy="18288"/>
          </a:xfrm>
          <a:prstGeom prst="rect">
            <a:avLst/>
          </a:prstGeom>
          <a:solidFill>
            <a:srgbClr val="6B7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" y="5330952"/>
            <a:ext cx="457200" cy="3657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JP"/>
              </a:rPr>
              <a:t>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" y="528523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4A"/>
                </a:solidFill>
                <a:latin typeface="Noto Sans JP"/>
              </a:rPr>
              <a:t>レート制限・監査ログ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03520" y="528523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6B7C9E"/>
                </a:solidFill>
                <a:latin typeface="Noto Sans JP"/>
              </a:rPr>
              <a:t>p.16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5742432"/>
            <a:ext cx="5486400" cy="18288"/>
          </a:xfrm>
          <a:prstGeom prst="rect">
            <a:avLst/>
          </a:prstGeom>
          <a:solidFill>
            <a:srgbClr val="6B7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17920" y="1051560"/>
            <a:ext cx="457200" cy="3657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JP"/>
              </a:rPr>
              <a:t>11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0" y="10058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4A"/>
                </a:solidFill>
                <a:latin typeface="Noto Sans JP"/>
              </a:rPr>
              <a:t>患者向け予約フロー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64240" y="10058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6B7C9E"/>
                </a:solidFill>
                <a:latin typeface="Noto Sans JP"/>
              </a:rPr>
              <a:t>p.18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20" y="1463040"/>
            <a:ext cx="5486400" cy="18288"/>
          </a:xfrm>
          <a:prstGeom prst="rect">
            <a:avLst/>
          </a:prstGeom>
          <a:solidFill>
            <a:srgbClr val="6B7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17920" y="1527048"/>
            <a:ext cx="457200" cy="3657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JP"/>
              </a:rPr>
              <a:t>12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66560" y="148132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4A"/>
                </a:solidFill>
                <a:latin typeface="Noto Sans JP"/>
              </a:rPr>
              <a:t>管理者ダッシュボード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64240" y="148132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6B7C9E"/>
                </a:solidFill>
                <a:latin typeface="Noto Sans JP"/>
              </a:rPr>
              <a:t>p.19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17920" y="1938528"/>
            <a:ext cx="5486400" cy="18288"/>
          </a:xfrm>
          <a:prstGeom prst="rect">
            <a:avLst/>
          </a:prstGeom>
          <a:solidFill>
            <a:srgbClr val="6B7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217920" y="2002536"/>
            <a:ext cx="457200" cy="3657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JP"/>
              </a:rPr>
              <a:t>13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66560" y="1956816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4A"/>
                </a:solidFill>
                <a:latin typeface="Noto Sans JP"/>
              </a:rPr>
              <a:t>設定画面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064240" y="1956816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6B7C9E"/>
                </a:solidFill>
                <a:latin typeface="Noto Sans JP"/>
              </a:rPr>
              <a:t>p.20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17920" y="2414016"/>
            <a:ext cx="5486400" cy="18288"/>
          </a:xfrm>
          <a:prstGeom prst="rect">
            <a:avLst/>
          </a:prstGeom>
          <a:solidFill>
            <a:srgbClr val="6B7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217920" y="2478024"/>
            <a:ext cx="457200" cy="3657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JP"/>
              </a:rPr>
              <a:t>14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66560" y="2432304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4A"/>
                </a:solidFill>
                <a:latin typeface="Noto Sans JP"/>
              </a:rPr>
              <a:t>デプロイ構成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064240" y="2432304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6B7C9E"/>
                </a:solidFill>
                <a:latin typeface="Noto Sans JP"/>
              </a:rPr>
              <a:t>p.22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17920" y="2889504"/>
            <a:ext cx="5486400" cy="18288"/>
          </a:xfrm>
          <a:prstGeom prst="rect">
            <a:avLst/>
          </a:prstGeom>
          <a:solidFill>
            <a:srgbClr val="6B7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217920" y="2953512"/>
            <a:ext cx="457200" cy="3657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JP"/>
              </a:rPr>
              <a:t>15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66560" y="290779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4A"/>
                </a:solidFill>
                <a:latin typeface="Noto Sans JP"/>
              </a:rPr>
              <a:t>i18n 多言語対応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064240" y="290779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6B7C9E"/>
                </a:solidFill>
                <a:latin typeface="Noto Sans JP"/>
              </a:rPr>
              <a:t>p.24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17920" y="3364992"/>
            <a:ext cx="5486400" cy="18288"/>
          </a:xfrm>
          <a:prstGeom prst="rect">
            <a:avLst/>
          </a:prstGeom>
          <a:solidFill>
            <a:srgbClr val="6B7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17920" y="3429000"/>
            <a:ext cx="457200" cy="3657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JP"/>
              </a:rPr>
              <a:t>16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66560" y="33832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4A"/>
                </a:solidFill>
                <a:latin typeface="Noto Sans JP"/>
              </a:rPr>
              <a:t>PWA 対応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064240" y="33832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6B7C9E"/>
                </a:solidFill>
                <a:latin typeface="Noto Sans JP"/>
              </a:rPr>
              <a:t>p.25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217920" y="3840480"/>
            <a:ext cx="5486400" cy="18288"/>
          </a:xfrm>
          <a:prstGeom prst="rect">
            <a:avLst/>
          </a:prstGeom>
          <a:solidFill>
            <a:srgbClr val="6B7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217920" y="3904488"/>
            <a:ext cx="457200" cy="3657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JP"/>
              </a:rPr>
              <a:t>17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766560" y="385876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4A"/>
                </a:solidFill>
                <a:latin typeface="Noto Sans JP"/>
              </a:rPr>
              <a:t>問診票機能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064240" y="385876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6B7C9E"/>
                </a:solidFill>
                <a:latin typeface="Noto Sans JP"/>
              </a:rPr>
              <a:t>p.26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217920" y="4315968"/>
            <a:ext cx="5486400" cy="18288"/>
          </a:xfrm>
          <a:prstGeom prst="rect">
            <a:avLst/>
          </a:prstGeom>
          <a:solidFill>
            <a:srgbClr val="6B7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17920" y="4379976"/>
            <a:ext cx="457200" cy="3657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JP"/>
              </a:rPr>
              <a:t>18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766560" y="4334256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4A"/>
                </a:solidFill>
                <a:latin typeface="Noto Sans JP"/>
              </a:rPr>
              <a:t>診察履歴・APPI対応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064240" y="4334256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6B7C9E"/>
                </a:solidFill>
                <a:latin typeface="Noto Sans JP"/>
              </a:rPr>
              <a:t>p.27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217920" y="4791456"/>
            <a:ext cx="5486400" cy="18288"/>
          </a:xfrm>
          <a:prstGeom prst="rect">
            <a:avLst/>
          </a:prstGeom>
          <a:solidFill>
            <a:srgbClr val="6B7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217920" y="4855464"/>
            <a:ext cx="457200" cy="3657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JP"/>
              </a:rPr>
              <a:t>19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766560" y="4809744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4A"/>
                </a:solidFill>
                <a:latin typeface="Noto Sans JP"/>
              </a:rPr>
              <a:t>アクセスログ・リマインダー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064240" y="4809744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6B7C9E"/>
                </a:solidFill>
                <a:latin typeface="Noto Sans JP"/>
              </a:rPr>
              <a:t>p.28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217920" y="5266944"/>
            <a:ext cx="5486400" cy="18288"/>
          </a:xfrm>
          <a:prstGeom prst="rect">
            <a:avLst/>
          </a:prstGeom>
          <a:solidFill>
            <a:srgbClr val="6B7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60720"/>
            <a:ext cx="12188952" cy="10972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112745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Noto Sans JP"/>
              </a:rPr>
              <a:t>1. システム概要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5EE"/>
                </a:solidFill>
                <a:latin typeface="Noto Sans JP"/>
              </a:rPr>
              <a:t>  システム目的・主要機能・非機能要件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5EE"/>
                </a:solidFill>
                <a:latin typeface="Noto Sans JP"/>
              </a:rPr>
              <a:t>  技術スタック（React SPA v4 + Firebase + Node.js 24 + i18n/PWA）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Noto Sans JP"/>
              </a:rPr>
              <a:t>システム概要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20" y="182880"/>
            <a:ext cx="164592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2B4A"/>
                </a:solidFill>
                <a:latin typeface="Noto Sans JP"/>
              </a:rPr>
              <a:t>概要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3566160" cy="530352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3566160" cy="5029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JP"/>
              </a:rPr>
              <a:t>システム目的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00200"/>
            <a:ext cx="329184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・鍼灸整骨院向けオンライン予約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・24時間365日受付対応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・管理者はリアルタイムで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　予約管理可能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・患者・院側双方の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　利便性向上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005840"/>
            <a:ext cx="3566160" cy="530352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005840"/>
            <a:ext cx="3566160" cy="5029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0515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JP"/>
              </a:rPr>
              <a:t>主要機能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600200"/>
            <a:ext cx="329184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・患者向け予約フロー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　（4ステップ: 日時→情報入力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　→確認→完了）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・予約管理ダッシュボード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・設定管理（5タブ）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・ユーザー管理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・パスワード変更強制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005840"/>
            <a:ext cx="3566160" cy="530352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005840"/>
            <a:ext cx="3566160" cy="5029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10515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JP"/>
              </a:rPr>
              <a:t>非機能要件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1600200"/>
            <a:ext cx="329184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・セキュリティ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　（12脆弱性修正済み）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・CSP ヘッダー完全実装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・レート制限（DoS対策）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・モバイル対応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・日本語フォント対応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・SSL/TLS（Firebase）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Noto Sans JP"/>
              </a:rPr>
              <a:t>技術スタック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20" y="182880"/>
            <a:ext cx="164592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2B4A"/>
                </a:solidFill>
                <a:latin typeface="Noto Sans JP"/>
              </a:rPr>
              <a:t>技術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3566160" cy="530352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3566160" cy="5029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JP"/>
              </a:rPr>
              <a:t>フロントエンド (oas-spa/)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00200"/>
            <a:ext cx="329184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・Vite 6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・React 19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・TypeScript 5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・Tailwind CSS 3.4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・React Router 7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・Firebase v10 SDK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・pdf-lib / fontkit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　（PDF 生成）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・clsx / tailwind-merge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・react-i18next（7言語対応）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・vite-plugin-pwa（PWA）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005840"/>
            <a:ext cx="3566160" cy="530352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005840"/>
            <a:ext cx="3566160" cy="5029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0515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JP"/>
              </a:rPr>
              <a:t>バックエンド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600200"/>
            <a:ext cx="329184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・Firebase Authentication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　（Email/Password）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・Cloud Firestore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　（asia-northeast1）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・Cloud Functions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　（Node.js 24）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・firebase-admin v13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・Resend（メール送信）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005840"/>
            <a:ext cx="3566160" cy="530352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005840"/>
            <a:ext cx="3566160" cy="5029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10515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JP"/>
              </a:rPr>
              <a:t>インフラ・ツール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1600200"/>
            <a:ext cx="329184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・Firebase Hosting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　（マルチサイト）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・カスタムドメイン: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　oas.kojinius.jp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・さくらインターネット DNS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・Playwright（E2Eテスト）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・python-pptx（設計書生成）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60720"/>
            <a:ext cx="12188952" cy="10972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112745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Noto Sans JP"/>
              </a:rPr>
              <a:t>2. アーキテクチャ設計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5EE"/>
                </a:solidFill>
                <a:latin typeface="Noto Sans JP"/>
              </a:rPr>
              <a:t>  ディレクトリ構成（oas-spa/ SPA 構造 / i18n / questionnaire追加）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5EE"/>
                </a:solidFill>
                <a:latin typeface="Noto Sans JP"/>
              </a:rPr>
              <a:t>  Firestore データモデル（8 コレクション / visit_histories / access_logs）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5EE"/>
                </a:solidFill>
                <a:latin typeface="Noto Sans JP"/>
              </a:rPr>
              <a:t>  Cloud Functions 設計（10 functions）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5EE"/>
                </a:solidFill>
                <a:latin typeface="Noto Sans JP"/>
              </a:rPr>
              <a:t>  予約作成フロー（createReservation）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Noto Sans JP"/>
              </a:rPr>
              <a:t>ディレクトリ構成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20" y="182880"/>
            <a:ext cx="164592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2B4A"/>
                </a:solidFill>
                <a:latin typeface="Noto Sans JP"/>
              </a:rPr>
              <a:t>構成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11274552" cy="530352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</a:pPr>
            <a:r>
              <a:rPr sz="1300" b="0">
                <a:solidFill>
                  <a:srgbClr val="1A2B4A"/>
                </a:solidFill>
                <a:latin typeface="Courier New"/>
              </a:rPr>
              <a:t>fukumoto-reservation/</a:t>
            </a:r>
          </a:p>
          <a:p>
            <a:pPr algn="l">
              <a:lnSpc>
                <a:spcPts val="2100"/>
              </a:lnSpc>
            </a:pPr>
            <a:r>
              <a:rPr sz="1300" b="0">
                <a:solidFill>
                  <a:srgbClr val="1A2B4A"/>
                </a:solidFill>
                <a:latin typeface="Courier New"/>
              </a:rPr>
              <a:t>├── oas-spa/                    # React SPA（患者向け + 管理者）</a:t>
            </a:r>
          </a:p>
          <a:p>
            <a:pPr algn="l">
              <a:lnSpc>
                <a:spcPts val="2100"/>
              </a:lnSpc>
            </a:pPr>
            <a:r>
              <a:rPr sz="1300" b="0">
                <a:solidFill>
                  <a:srgbClr val="1A2B4A"/>
                </a:solidFill>
                <a:latin typeface="Courier New"/>
              </a:rPr>
              <a:t>│   ├── src/</a:t>
            </a:r>
          </a:p>
          <a:p>
            <a:pPr algn="l">
              <a:lnSpc>
                <a:spcPts val="2100"/>
              </a:lnSpc>
            </a:pPr>
            <a:r>
              <a:rPr sz="1300" b="0">
                <a:solidFill>
                  <a:srgbClr val="1A2B4A"/>
                </a:solidFill>
                <a:latin typeface="Courier New"/>
              </a:rPr>
              <a:t>│   │   ├── pages/</a:t>
            </a:r>
          </a:p>
          <a:p>
            <a:pPr algn="l">
              <a:lnSpc>
                <a:spcPts val="2100"/>
              </a:lnSpc>
            </a:pPr>
            <a:r>
              <a:rPr sz="1300" b="0">
                <a:solidFill>
                  <a:srgbClr val="1A2B4A"/>
                </a:solidFill>
                <a:latin typeface="Courier New"/>
              </a:rPr>
              <a:t>│   │   │   ├── booking/        # Index / DateTimeSelect / PatientForm</a:t>
            </a:r>
          </a:p>
          <a:p>
            <a:pPr algn="l">
              <a:lnSpc>
                <a:spcPts val="2100"/>
              </a:lnSpc>
            </a:pPr>
            <a:r>
              <a:rPr sz="1300" b="0">
                <a:solidFill>
                  <a:srgbClr val="1A2B4A"/>
                </a:solidFill>
                <a:latin typeface="Courier New"/>
              </a:rPr>
              <a:t>│   │   │   │                   #   / Confirm / Complete</a:t>
            </a:r>
          </a:p>
          <a:p>
            <a:pPr algn="l">
              <a:lnSpc>
                <a:spcPts val="2100"/>
              </a:lnSpc>
            </a:pPr>
            <a:r>
              <a:rPr sz="1300" b="0">
                <a:solidFill>
                  <a:srgbClr val="1A2B4A"/>
                </a:solidFill>
                <a:latin typeface="Courier New"/>
              </a:rPr>
              <a:t>│   │   │   ├── admin/          # Dashboard / Settings / ChangePassword / History</a:t>
            </a:r>
          </a:p>
          <a:p>
            <a:pPr algn="l">
              <a:lnSpc>
                <a:spcPts val="2100"/>
              </a:lnSpc>
            </a:pPr>
            <a:r>
              <a:rPr sz="1300" b="0">
                <a:solidFill>
                  <a:srgbClr val="1A2B4A"/>
                </a:solidFill>
                <a:latin typeface="Courier New"/>
              </a:rPr>
              <a:t>│   │   │   ├── questionnaire/  # /questionnaire（問診票）</a:t>
            </a:r>
          </a:p>
          <a:p>
            <a:pPr algn="l">
              <a:lnSpc>
                <a:spcPts val="2100"/>
              </a:lnSpc>
            </a:pPr>
            <a:r>
              <a:rPr sz="1300" b="0">
                <a:solidFill>
                  <a:srgbClr val="1A2B4A"/>
                </a:solidFill>
                <a:latin typeface="Courier New"/>
              </a:rPr>
              <a:t>│   │   │   ├── Cancel.tsx      # /cancel</a:t>
            </a:r>
          </a:p>
          <a:p>
            <a:pPr algn="l">
              <a:lnSpc>
                <a:spcPts val="2100"/>
              </a:lnSpc>
            </a:pPr>
            <a:r>
              <a:rPr sz="1300" b="0">
                <a:solidFill>
                  <a:srgbClr val="1A2B4A"/>
                </a:solidFill>
                <a:latin typeface="Courier New"/>
              </a:rPr>
              <a:t>│   │   │   ├── Login.tsx       # /login</a:t>
            </a:r>
          </a:p>
          <a:p>
            <a:pPr algn="l">
              <a:lnSpc>
                <a:spcPts val="2100"/>
              </a:lnSpc>
            </a:pPr>
            <a:r>
              <a:rPr sz="1300" b="0">
                <a:solidFill>
                  <a:srgbClr val="1A2B4A"/>
                </a:solidFill>
                <a:latin typeface="Courier New"/>
              </a:rPr>
              <a:t>│   │   │   └── PrivacyPolicy.tsx</a:t>
            </a:r>
          </a:p>
          <a:p>
            <a:pPr algn="l">
              <a:lnSpc>
                <a:spcPts val="2100"/>
              </a:lnSpc>
            </a:pPr>
            <a:r>
              <a:rPr sz="1300" b="0">
                <a:solidFill>
                  <a:srgbClr val="1A2B4A"/>
                </a:solidFill>
                <a:latin typeface="Courier New"/>
              </a:rPr>
              <a:t>│   │   ├── components/         # ui / shared / layout</a:t>
            </a:r>
          </a:p>
          <a:p>
            <a:pPr algn="l">
              <a:lnSpc>
                <a:spcPts val="2100"/>
              </a:lnSpc>
            </a:pPr>
            <a:r>
              <a:rPr sz="1300" b="0">
                <a:solidFill>
                  <a:srgbClr val="1A2B4A"/>
                </a:solidFill>
                <a:latin typeface="Courier New"/>
              </a:rPr>
              <a:t>│   │   ├── contexts/           # Auth / Clinic / Theme / Toast</a:t>
            </a:r>
          </a:p>
          <a:p>
            <a:pPr algn="l">
              <a:lnSpc>
                <a:spcPts val="2100"/>
              </a:lnSpc>
            </a:pPr>
            <a:r>
              <a:rPr sz="1300" b="0">
                <a:solidFill>
                  <a:srgbClr val="1A2B4A"/>
                </a:solidFill>
                <a:latin typeface="Courier New"/>
              </a:rPr>
              <a:t>│   │   ├── hooks/              # useAuth / useAdmin / useReservation etc.</a:t>
            </a:r>
          </a:p>
          <a:p>
            <a:pPr algn="l">
              <a:lnSpc>
                <a:spcPts val="2100"/>
              </a:lnSpc>
            </a:pPr>
            <a:r>
              <a:rPr sz="1300" b="0">
                <a:solidFill>
                  <a:srgbClr val="1A2B4A"/>
                </a:solidFill>
                <a:latin typeface="Courier New"/>
              </a:rPr>
              <a:t>│   │   ├── i18n/               # react-i18next 設定 / 7言語 / 5ネームスペース</a:t>
            </a:r>
          </a:p>
          <a:p>
            <a:pPr algn="l">
              <a:lnSpc>
                <a:spcPts val="2100"/>
              </a:lnSpc>
            </a:pPr>
            <a:r>
              <a:rPr sz="1300" b="0">
                <a:solidFill>
                  <a:srgbClr val="1A2B4A"/>
                </a:solidFill>
                <a:latin typeface="Courier New"/>
              </a:rPr>
              <a:t>│   │   │   └── locales/{ja,en,zh,ko,vi,pt,es}/</a:t>
            </a:r>
          </a:p>
          <a:p>
            <a:pPr algn="l">
              <a:lnSpc>
                <a:spcPts val="2100"/>
              </a:lnSpc>
            </a:pPr>
            <a:r>
              <a:rPr sz="1300" b="0">
                <a:solidFill>
                  <a:srgbClr val="1A2B4A"/>
                </a:solidFill>
                <a:latin typeface="Courier New"/>
              </a:rPr>
              <a:t>│   │   ├── types/              # TypeScript 型定義（questionnaire.ts 追加）</a:t>
            </a:r>
          </a:p>
          <a:p>
            <a:pPr algn="l">
              <a:lnSpc>
                <a:spcPts val="2100"/>
              </a:lnSpc>
            </a:pPr>
            <a:r>
              <a:rPr sz="1300" b="0">
                <a:solidFill>
                  <a:srgbClr val="1A2B4A"/>
                </a:solidFill>
                <a:latin typeface="Courier New"/>
              </a:rPr>
              <a:t>│   │   └── utils/              # cn / date / validation / security / zip</a:t>
            </a:r>
          </a:p>
          <a:p>
            <a:pPr algn="l">
              <a:lnSpc>
                <a:spcPts val="2100"/>
              </a:lnSpc>
            </a:pPr>
            <a:r>
              <a:rPr sz="1300" b="0">
                <a:solidFill>
                  <a:srgbClr val="1A2B4A"/>
                </a:solidFill>
                <a:latin typeface="Courier New"/>
              </a:rPr>
              <a:t>│   │                           #   questionnairePdf.ts（pdf-lib PDF生成）</a:t>
            </a:r>
          </a:p>
          <a:p>
            <a:pPr algn="l">
              <a:lnSpc>
                <a:spcPts val="2100"/>
              </a:lnSpc>
            </a:pPr>
            <a:r>
              <a:rPr sz="1300" b="0">
                <a:solidFill>
                  <a:srgbClr val="1A2B4A"/>
                </a:solidFill>
                <a:latin typeface="Courier New"/>
              </a:rPr>
              <a:t>│   └── dist/                   # ビルド出力</a:t>
            </a:r>
          </a:p>
          <a:p>
            <a:pPr algn="l">
              <a:lnSpc>
                <a:spcPts val="2100"/>
              </a:lnSpc>
            </a:pPr>
            <a:r>
              <a:rPr sz="1300" b="0">
                <a:solidFill>
                  <a:srgbClr val="1A2B4A"/>
                </a:solidFill>
                <a:latin typeface="Courier New"/>
              </a:rPr>
              <a:t>├── functions/index.js          # Cloud Functions (10+ functions)</a:t>
            </a:r>
          </a:p>
          <a:p>
            <a:pPr algn="l">
              <a:lnSpc>
                <a:spcPts val="2100"/>
              </a:lnSpc>
            </a:pPr>
            <a:r>
              <a:rPr sz="1300" b="0">
                <a:solidFill>
                  <a:srgbClr val="1A2B4A"/>
                </a:solidFill>
                <a:latin typeface="Courier New"/>
              </a:rPr>
              <a:t>├── firestore.rules             # セキュリティルール</a:t>
            </a:r>
          </a:p>
          <a:p>
            <a:pPr algn="l">
              <a:lnSpc>
                <a:spcPts val="2100"/>
              </a:lnSpc>
            </a:pPr>
            <a:r>
              <a:rPr sz="1300" b="0">
                <a:solidFill>
                  <a:srgbClr val="1A2B4A"/>
                </a:solidFill>
                <a:latin typeface="Courier New"/>
              </a:rPr>
              <a:t>└── firebase.json               # Hosting マルチサイト設定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Noto Sans JP"/>
              </a:rPr>
              <a:t>Firestore データモデル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20" y="182880"/>
            <a:ext cx="164592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2B4A"/>
                </a:solidFill>
                <a:latin typeface="Noto Sans JP"/>
              </a:rPr>
              <a:t>DB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394960" cy="530352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5394960" cy="5029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JP"/>
              </a:rPr>
              <a:t>コレクション一覧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00200"/>
            <a:ext cx="512064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reservations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　id, name, furigana, date, time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　phone, status, createdAt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　email?, zip?, address?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　symptoms?, visitType?,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　insurance?, gender?, birthdate?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slots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　slotId (date_time 形式)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　reservationId（参照）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settings / clinic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　clinicName, address, phone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　businessHours, holidays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　announcement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　cancelCutoffMinutes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users / {uid}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　mustChangePassword: boolean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audit_logs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　event, data, severity, timestamp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questionnaires / {reservationId}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　18フィールド / 問診票データ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visit_histories / {id}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　（immutable）診察完了記録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　→ corrections/ サブコレクション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access_logs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　uid, action, targetId, timestamp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005840"/>
            <a:ext cx="5394960" cy="530352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005840"/>
            <a:ext cx="5394960" cy="5029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0515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JP"/>
              </a:rPr>
              <a:t>status・追加コレクション詳細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600200"/>
            <a:ext cx="512064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reservations.status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・pending    → 未確認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・confirmed  → 確認済み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・cancelled  → キャンセル済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・completed  → 診察完了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visit_histories フィールド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・completedAt, completedBy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・（予約データをコピー保存）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・immutable rules: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update/delete 管理者も不可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correctVisitHistory CF のみ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corrections サブコレクションに追記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audit_logs イベント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・reservation.created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・reservation.slot_taken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・reservation.cancelled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・user.created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・user.deleted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・rate_limit.exceeded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access_logs アクション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・view_reservation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・download_questionnaire_pdf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・complete_visit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Noto Sans JP"/>
              </a:rPr>
              <a:t>Cloud Functions 設計（10 functions）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20" y="182880"/>
            <a:ext cx="164592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2B4A"/>
                </a:solidFill>
                <a:latin typeface="Noto Sans JP"/>
              </a:rPr>
              <a:t>Functions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2926080" cy="65836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789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Noto Sans JP"/>
              </a:rPr>
              <a:t>createReservation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89888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4AF37"/>
                </a:solidFill>
                <a:latin typeface="Noto Sans JP"/>
              </a:rPr>
              <a:t>onRequest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005840"/>
            <a:ext cx="8412480" cy="658368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143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  <a:latin typeface="Noto Sans JP"/>
              </a:rPr>
              <a:t>予約作成・メール送信・スロット管理・監査ログ。レート制限・スキーマ検証あり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09928"/>
            <a:ext cx="2926080" cy="65836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783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Noto Sans JP"/>
              </a:rPr>
              <a:t>verifyReservation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093976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4AF37"/>
                </a:solidFill>
                <a:latin typeface="Noto Sans JP"/>
              </a:rPr>
              <a:t>onRequest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1709928"/>
            <a:ext cx="8412480" cy="658368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184708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  <a:latin typeface="Noto Sans JP"/>
              </a:rPr>
              <a:t>電話番号照合でキャンセル前の予約照会。電話番号ミスマッチは404で列挙攻撃防止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414016"/>
            <a:ext cx="2926080" cy="65836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4871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Noto Sans JP"/>
              </a:rPr>
              <a:t>cancelReservation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798064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4AF37"/>
                </a:solidFill>
                <a:latin typeface="Noto Sans JP"/>
              </a:rPr>
              <a:t>onRequest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2414016"/>
            <a:ext cx="8412480" cy="658368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0440" y="2551176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  <a:latin typeface="Noto Sans JP"/>
              </a:rPr>
              <a:t>電話番号照合後 Firestore トランザクションでキャンセル。TOCTOU 修正済み [SEC-8]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118104"/>
            <a:ext cx="2926080" cy="65836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19125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Noto Sans JP"/>
              </a:rPr>
              <a:t>createAdminUser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502152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4AF37"/>
                </a:solidFill>
                <a:latin typeface="Noto Sans JP"/>
              </a:rPr>
              <a:t>onRequest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80" y="3118104"/>
            <a:ext cx="8412480" cy="658368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0440" y="3255264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  <a:latin typeface="Noto Sans JP"/>
              </a:rPr>
              <a:t>管理者作成・admin カスタムクレーム付与・初期パスワード変更フラグ設定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822192"/>
            <a:ext cx="2926080" cy="65836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89534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Noto Sans JP"/>
              </a:rPr>
              <a:t>listUsers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206240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4AF37"/>
                </a:solidFill>
                <a:latin typeface="Noto Sans JP"/>
              </a:rPr>
              <a:t>onRequest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3822192"/>
            <a:ext cx="8412480" cy="658368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0440" y="395935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  <a:latin typeface="Noto Sans JP"/>
              </a:rPr>
              <a:t>管理者一覧取得（admin クレーム必須）。メールはマスク表示 [SEC-6]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526280"/>
            <a:ext cx="2926080" cy="65836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5994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Noto Sans JP"/>
              </a:rPr>
              <a:t>deleteUser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910328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4AF37"/>
                </a:solidFill>
                <a:latin typeface="Noto Sans JP"/>
              </a:rPr>
              <a:t>onRequest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83280" y="4526280"/>
            <a:ext cx="8412480" cy="658368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20440" y="4663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  <a:latin typeface="Noto Sans JP"/>
              </a:rPr>
              <a:t>ユーザー削除（admin クレーム必須）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230368"/>
            <a:ext cx="2926080" cy="65836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303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Noto Sans JP"/>
              </a:rPr>
              <a:t>sendDailyReminders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614416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4AF37"/>
                </a:solidFill>
                <a:latin typeface="Noto Sans JP"/>
              </a:rPr>
              <a:t>onSchedule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83280" y="5230368"/>
            <a:ext cx="8412480" cy="658368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20440" y="53675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  <a:latin typeface="Noto Sans JP"/>
              </a:rPr>
              <a:t>翌日予約へのリマインダーメール一括送信（opt-in 患者のみ）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934456"/>
            <a:ext cx="2926080" cy="65836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60076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Noto Sans JP"/>
              </a:rPr>
              <a:t>completeVisit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318504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4AF37"/>
                </a:solidFill>
                <a:latin typeface="Noto Sans JP"/>
              </a:rPr>
              <a:t>onRequest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83280" y="5934456"/>
            <a:ext cx="8412480" cy="658368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20440" y="6071616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  <a:latin typeface="Noto Sans JP"/>
              </a:rPr>
              <a:t>診察完了処理: visit_histories 保存 + status=completed。admin クレーム必須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6638544"/>
            <a:ext cx="2926080" cy="65836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671169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Noto Sans JP"/>
              </a:rPr>
              <a:t>correctVisitHistory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7022592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4AF37"/>
                </a:solidFill>
                <a:latin typeface="Noto Sans JP"/>
              </a:rPr>
              <a:t>onRequest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383280" y="6638544"/>
            <a:ext cx="8412480" cy="658368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520440" y="6775704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  <a:latin typeface="Noto Sans JP"/>
              </a:rPr>
              <a:t>診察履歴訂正（APPI第34条）: corrections サブコレクションに immutable 追記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7342632"/>
            <a:ext cx="2926080" cy="65836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8640" y="741578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Noto Sans JP"/>
              </a:rPr>
              <a:t>optOutReminder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7726680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4AF37"/>
                </a:solidFill>
                <a:latin typeface="Noto Sans JP"/>
              </a:rPr>
              <a:t>onRequest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383280" y="7342632"/>
            <a:ext cx="8412480" cy="658368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520440" y="74797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  <a:latin typeface="Noto Sans JP"/>
              </a:rPr>
              <a:t>HMAC-SHA256 トークン検証後 reminderConsent=false に更新（メール配信停止）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Noto Sans JP"/>
              </a:rPr>
              <a:t>予約作成フロー（createReservation）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20" y="182880"/>
            <a:ext cx="164592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2B4A"/>
                </a:solidFill>
                <a:latin typeface="Noto Sans JP"/>
              </a:rPr>
              <a:t>フロー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48640" cy="5669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7899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2B4A"/>
                </a:solidFill>
                <a:latin typeface="Noto Sans JP"/>
              </a:rPr>
              <a:t>①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1005840"/>
            <a:ext cx="2743200" cy="56692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11556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Noto Sans JP"/>
              </a:rPr>
              <a:t>レート制限チェック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1005840"/>
            <a:ext cx="7955279" cy="566928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77639" y="1133856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  <a:latin typeface="Noto Sans JP"/>
              </a:rPr>
              <a:t>5 req/min per IP。超過時は 429 を返す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664208"/>
            <a:ext cx="548640" cy="5669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737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2B4A"/>
                </a:solidFill>
                <a:latin typeface="Noto Sans JP"/>
              </a:rPr>
              <a:t>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51560" y="1664208"/>
            <a:ext cx="2743200" cy="56692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1773936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Noto Sans JP"/>
              </a:rPr>
              <a:t>入力バリデーション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0" y="1664208"/>
            <a:ext cx="7955279" cy="566928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77639" y="1792224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  <a:latin typeface="Noto Sans JP"/>
              </a:rPr>
              <a:t>必須フィールド・型・長さ・電話番号・メール形式を検証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322576"/>
            <a:ext cx="548640" cy="5669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39572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2B4A"/>
                </a:solidFill>
                <a:latin typeface="Noto Sans JP"/>
              </a:rPr>
              <a:t>③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1560" y="2322576"/>
            <a:ext cx="2743200" cy="56692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243230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Noto Sans JP"/>
              </a:rPr>
              <a:t>スロット競合チェック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0" y="2322576"/>
            <a:ext cx="7955279" cy="566928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77639" y="2450592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  <a:latin typeface="Noto Sans JP"/>
              </a:rPr>
              <a:t>slots/{date_time} を transaction.get で確認。取得済みなら SLOT_TAKEN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980944"/>
            <a:ext cx="548640" cy="5669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05409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2B4A"/>
                </a:solidFill>
                <a:latin typeface="Noto Sans JP"/>
              </a:rPr>
              <a:t>④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51560" y="2980944"/>
            <a:ext cx="2743200" cy="56692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309067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Noto Sans JP"/>
              </a:rPr>
              <a:t>reservations ドキュメント作成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0" y="2980944"/>
            <a:ext cx="7955279" cy="566928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77639" y="3108960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  <a:latin typeface="Noto Sans JP"/>
              </a:rPr>
              <a:t>Firestore transaction 内で atomic に作成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639312"/>
            <a:ext cx="548640" cy="5669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712464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2B4A"/>
                </a:solidFill>
                <a:latin typeface="Noto Sans JP"/>
              </a:rPr>
              <a:t>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51560" y="3639312"/>
            <a:ext cx="2743200" cy="56692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37490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Noto Sans JP"/>
              </a:rPr>
              <a:t>スロット予約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0" y="3639312"/>
            <a:ext cx="7955279" cy="566928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77639" y="3767328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  <a:latin typeface="Noto Sans JP"/>
              </a:rPr>
              <a:t>slots/{date_time} に reservationId を書き込み（同一 transaction）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297680"/>
            <a:ext cx="548640" cy="5669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43708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2B4A"/>
                </a:solidFill>
                <a:latin typeface="Noto Sans JP"/>
              </a:rPr>
              <a:t>⑥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51560" y="4297680"/>
            <a:ext cx="2743200" cy="56692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440740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Noto Sans JP"/>
              </a:rPr>
              <a:t>メール送信（非同期）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40480" y="4297680"/>
            <a:ext cx="7955279" cy="566928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77639" y="4425696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  <a:latin typeface="Noto Sans JP"/>
              </a:rPr>
              <a:t>Resend API で患者・院双方に確認メール送信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956048"/>
            <a:ext cx="548640" cy="5669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029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2B4A"/>
                </a:solidFill>
                <a:latin typeface="Noto Sans JP"/>
              </a:rPr>
              <a:t>⑦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51560" y="4956048"/>
            <a:ext cx="2743200" cy="56692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43000" y="5065776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Noto Sans JP"/>
              </a:rPr>
              <a:t>監査ログ記録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40480" y="4956048"/>
            <a:ext cx="7955279" cy="566928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977639" y="5084064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  <a:latin typeface="Noto Sans JP"/>
              </a:rPr>
              <a:t>reservation.created イベントを audit_logs に保存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60720"/>
            <a:ext cx="12188952" cy="10972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112745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Noto Sans JP"/>
              </a:rPr>
              <a:t>3. セキュリティ設計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5EE"/>
                </a:solidFill>
                <a:latin typeface="Noto Sans JP"/>
              </a:rPr>
              <a:t>  認証・認可設計（admin クレーム・初期パスワード強制変更）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5EE"/>
                </a:solidFill>
                <a:latin typeface="Noto Sans JP"/>
              </a:rPr>
              <a:t>  Firestore セキュリティルール（isAdmin / isValidReservation）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5EE"/>
                </a:solidFill>
                <a:latin typeface="Noto Sans JP"/>
              </a:rPr>
              <a:t>  XSS・入力バリデーション（SEC-12/15）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5EE"/>
                </a:solidFill>
                <a:latin typeface="Noto Sans JP"/>
              </a:rPr>
              <a:t>  レート制限・監査ログ・その他修正（12 脆弱性対応済み）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Noto Sans JP"/>
              </a:rPr>
              <a:t>認証・認可設計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20" y="182880"/>
            <a:ext cx="164592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2B4A"/>
                </a:solidFill>
                <a:latin typeface="Noto Sans JP"/>
              </a:rPr>
              <a:t>Auth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11274552" cy="530352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認証方式</a:t>
            </a:r>
          </a:p>
          <a:p>
            <a:pPr algn="l">
              <a:lnSpc>
                <a:spcPts val="23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・Firebase Authentication（Email / Password）</a:t>
            </a:r>
          </a:p>
          <a:p>
            <a:pPr algn="l">
              <a:lnSpc>
                <a:spcPts val="23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・管理者: admin カスタムクレーム（server-side 付与のみ）</a:t>
            </a:r>
          </a:p>
          <a:p>
            <a:pPr algn="l">
              <a:lnSpc>
                <a:spcPts val="23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・セッション: browserSessionPersistence（タブ閉じでセッション消滅）</a:t>
            </a:r>
          </a:p>
          <a:p>
            <a:pPr algn="l">
              <a:lnSpc>
                <a:spcPts val="23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3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認可ルール</a:t>
            </a:r>
          </a:p>
          <a:p>
            <a:pPr algn="l">
              <a:lnSpc>
                <a:spcPts val="23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・患者向けページ（/、/cancel、/privacy-policy）: 認証不要</a:t>
            </a:r>
          </a:p>
          <a:p>
            <a:pPr algn="l">
              <a:lnSpc>
                <a:spcPts val="23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・管理者ページ（/admin、/admin/settings）: admin クレーム必須</a:t>
            </a:r>
          </a:p>
          <a:p>
            <a:pPr algn="l">
              <a:lnSpc>
                <a:spcPts val="23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・Firestore Rules: isAdmin() カスタム関数で厳密チェック</a:t>
            </a:r>
          </a:p>
          <a:p>
            <a:pPr algn="l">
              <a:lnSpc>
                <a:spcPts val="23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3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初期パスワード強制変更</a:t>
            </a:r>
          </a:p>
          <a:p>
            <a:pPr algn="l">
              <a:lnSpc>
                <a:spcPts val="23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・createAdminUser 時に mustChangePassword=true を Firestore に保存</a:t>
            </a:r>
          </a:p>
          <a:p>
            <a:pPr algn="l">
              <a:lnSpc>
                <a:spcPts val="23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・AdminLayout: mustChangePassword=true なら /admin/change-password?forced=1 に強制リダイレクト</a:t>
            </a:r>
          </a:p>
          <a:p>
            <a:pPr algn="l">
              <a:lnSpc>
                <a:spcPts val="23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・パスワード変更完了後に mustChangePassword=false に更新（本人のみ許可）</a:t>
            </a:r>
          </a:p>
          <a:p>
            <a:pPr algn="l">
              <a:lnSpc>
                <a:spcPts val="23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3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パスワードリセット</a:t>
            </a:r>
          </a:p>
          <a:p>
            <a:pPr algn="l">
              <a:lnSpc>
                <a:spcPts val="23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・sendPasswordResetEmail で再設定リンク送信</a:t>
            </a:r>
          </a:p>
          <a:p>
            <a:pPr algn="l">
              <a:lnSpc>
                <a:spcPts val="23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・/auth-action でメール認証アクション処理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Noto Sans JP"/>
              </a:rPr>
              <a:t>Firestore セキュリティルール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20" y="182880"/>
            <a:ext cx="164592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2B4A"/>
                </a:solidFill>
                <a:latin typeface="Noto Sans JP"/>
              </a:rPr>
              <a:t>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11274552" cy="53035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150" b="0">
                <a:solidFill>
                  <a:srgbClr val="F8F5EE"/>
                </a:solidFill>
                <a:latin typeface="Courier New"/>
              </a:rPr>
              <a:t>// デフォルト拒否（全ルートを安全側に倒す）</a:t>
            </a:r>
          </a:p>
          <a:p>
            <a:pPr algn="l">
              <a:lnSpc>
                <a:spcPts val="1800"/>
              </a:lnSpc>
            </a:pPr>
            <a:r>
              <a:rPr sz="1150" b="0">
                <a:solidFill>
                  <a:srgbClr val="F8F5EE"/>
                </a:solidFill>
                <a:latin typeface="Courier New"/>
              </a:rPr>
              <a:t>match /{document=**} { allow read, write: if false; }</a:t>
            </a:r>
          </a:p>
          <a:p>
            <a:pPr algn="l">
              <a:lnSpc>
                <a:spcPts val="1800"/>
              </a:lnSpc>
            </a:pPr>
            <a:r>
              <a:rPr sz="1150" b="0">
                <a:solidFill>
                  <a:srgbClr val="F8F5EE"/>
                </a:solidFill>
                <a:latin typeface="Courier New"/>
              </a:rPr>
              <a:t/>
            </a:r>
          </a:p>
          <a:p>
            <a:pPr algn="l">
              <a:lnSpc>
                <a:spcPts val="1800"/>
              </a:lnSpc>
            </a:pPr>
            <a:r>
              <a:rPr sz="1150" b="0">
                <a:solidFill>
                  <a:srgbClr val="F8F5EE"/>
                </a:solidFill>
                <a:latin typeface="Courier New"/>
              </a:rPr>
              <a:t>// isAdmin(): admin カスタムクレームで判定</a:t>
            </a:r>
          </a:p>
          <a:p>
            <a:pPr algn="l">
              <a:lnSpc>
                <a:spcPts val="1800"/>
              </a:lnSpc>
            </a:pPr>
            <a:r>
              <a:rPr sz="1150" b="0">
                <a:solidFill>
                  <a:srgbClr val="F8F5EE"/>
                </a:solidFill>
                <a:latin typeface="Courier New"/>
              </a:rPr>
              <a:t>function isAdmin() {</a:t>
            </a:r>
          </a:p>
          <a:p>
            <a:pPr algn="l">
              <a:lnSpc>
                <a:spcPts val="1800"/>
              </a:lnSpc>
            </a:pPr>
            <a:r>
              <a:rPr sz="1150" b="0">
                <a:solidFill>
                  <a:srgbClr val="F8F5EE"/>
                </a:solidFill>
                <a:latin typeface="Courier New"/>
              </a:rPr>
              <a:t>  return request.auth != null &amp;&amp; request.auth.token.admin == true;</a:t>
            </a:r>
          </a:p>
          <a:p>
            <a:pPr algn="l">
              <a:lnSpc>
                <a:spcPts val="1800"/>
              </a:lnSpc>
            </a:pPr>
            <a:r>
              <a:rPr sz="1150" b="0">
                <a:solidFill>
                  <a:srgbClr val="F8F5EE"/>
                </a:solidFill>
                <a:latin typeface="Courier New"/>
              </a:rPr>
              <a:t>}</a:t>
            </a:r>
          </a:p>
          <a:p>
            <a:pPr algn="l">
              <a:lnSpc>
                <a:spcPts val="1800"/>
              </a:lnSpc>
            </a:pPr>
            <a:r>
              <a:rPr sz="1150" b="0">
                <a:solidFill>
                  <a:srgbClr val="F8F5EE"/>
                </a:solidFill>
                <a:latin typeface="Courier New"/>
              </a:rPr>
              <a:t/>
            </a:r>
          </a:p>
          <a:p>
            <a:pPr algn="l">
              <a:lnSpc>
                <a:spcPts val="1800"/>
              </a:lnSpc>
            </a:pPr>
            <a:r>
              <a:rPr sz="1150" b="0">
                <a:solidFill>
                  <a:srgbClr val="F8F5EE"/>
                </a:solidFill>
                <a:latin typeface="Courier New"/>
              </a:rPr>
              <a:t>// isValidReservation(): 必須フィールド・型・長さを検証</a:t>
            </a:r>
          </a:p>
          <a:p>
            <a:pPr algn="l">
              <a:lnSpc>
                <a:spcPts val="1800"/>
              </a:lnSpc>
            </a:pPr>
            <a:r>
              <a:rPr sz="1150" b="0">
                <a:solidFill>
                  <a:srgbClr val="F8F5EE"/>
                </a:solidFill>
                <a:latin typeface="Courier New"/>
              </a:rPr>
              <a:t>match /reservations/{id} {</a:t>
            </a:r>
          </a:p>
          <a:p>
            <a:pPr algn="l">
              <a:lnSpc>
                <a:spcPts val="1800"/>
              </a:lnSpc>
            </a:pPr>
            <a:r>
              <a:rPr sz="1150" b="0">
                <a:solidFill>
                  <a:srgbClr val="F8F5EE"/>
                </a:solidFill>
                <a:latin typeface="Courier New"/>
              </a:rPr>
              <a:t>  allow read, update, delete: if isAdmin();</a:t>
            </a:r>
          </a:p>
          <a:p>
            <a:pPr algn="l">
              <a:lnSpc>
                <a:spcPts val="1800"/>
              </a:lnSpc>
            </a:pPr>
            <a:r>
              <a:rPr sz="1150" b="0">
                <a:solidFill>
                  <a:srgbClr val="F8F5EE"/>
                </a:solidFill>
                <a:latin typeface="Courier New"/>
              </a:rPr>
              <a:t>  allow create: if isAdmin() &amp;&amp; isValidReservation(request.resource.data);</a:t>
            </a:r>
          </a:p>
          <a:p>
            <a:pPr algn="l">
              <a:lnSpc>
                <a:spcPts val="1800"/>
              </a:lnSpc>
            </a:pPr>
            <a:r>
              <a:rPr sz="1150" b="0">
                <a:solidFill>
                  <a:srgbClr val="F8F5EE"/>
                </a:solidFill>
                <a:latin typeface="Courier New"/>
              </a:rPr>
              <a:t>  // 未認証クライアントからの直接書き込みは全て拒否 [SEC-18]</a:t>
            </a:r>
          </a:p>
          <a:p>
            <a:pPr algn="l">
              <a:lnSpc>
                <a:spcPts val="1800"/>
              </a:lnSpc>
            </a:pPr>
            <a:r>
              <a:rPr sz="1150" b="0">
                <a:solidFill>
                  <a:srgbClr val="F8F5EE"/>
                </a:solidFill>
                <a:latin typeface="Courier New"/>
              </a:rPr>
              <a:t>}</a:t>
            </a:r>
          </a:p>
          <a:p>
            <a:pPr algn="l">
              <a:lnSpc>
                <a:spcPts val="1800"/>
              </a:lnSpc>
            </a:pPr>
            <a:r>
              <a:rPr sz="1150" b="0">
                <a:solidFill>
                  <a:srgbClr val="F8F5EE"/>
                </a:solidFill>
                <a:latin typeface="Courier New"/>
              </a:rPr>
              <a:t/>
            </a:r>
          </a:p>
          <a:p>
            <a:pPr algn="l">
              <a:lnSpc>
                <a:spcPts val="1800"/>
              </a:lnSpc>
            </a:pPr>
            <a:r>
              <a:rPr sz="1150" b="0">
                <a:solidFill>
                  <a:srgbClr val="F8F5EE"/>
                </a:solidFill>
                <a:latin typeface="Courier New"/>
              </a:rPr>
              <a:t>match /slots/{slotId} {</a:t>
            </a:r>
          </a:p>
          <a:p>
            <a:pPr algn="l">
              <a:lnSpc>
                <a:spcPts val="1800"/>
              </a:lnSpc>
            </a:pPr>
            <a:r>
              <a:rPr sz="1150" b="0">
                <a:solidFill>
                  <a:srgbClr val="F8F5EE"/>
                </a:solidFill>
                <a:latin typeface="Courier New"/>
              </a:rPr>
              <a:t>  allow read: if true;   // カレンダー表示のため公開</a:t>
            </a:r>
          </a:p>
          <a:p>
            <a:pPr algn="l">
              <a:lnSpc>
                <a:spcPts val="1800"/>
              </a:lnSpc>
            </a:pPr>
            <a:r>
              <a:rPr sz="1150" b="0">
                <a:solidFill>
                  <a:srgbClr val="F8F5EE"/>
                </a:solidFill>
                <a:latin typeface="Courier New"/>
              </a:rPr>
              <a:t>  allow write: if isAdmin();</a:t>
            </a:r>
          </a:p>
          <a:p>
            <a:pPr algn="l">
              <a:lnSpc>
                <a:spcPts val="1800"/>
              </a:lnSpc>
            </a:pPr>
            <a:r>
              <a:rPr sz="1150" b="0">
                <a:solidFill>
                  <a:srgbClr val="F8F5EE"/>
                </a:solidFill>
                <a:latin typeface="Courier New"/>
              </a:rPr>
              <a:t>}</a:t>
            </a:r>
          </a:p>
          <a:p>
            <a:pPr algn="l">
              <a:lnSpc>
                <a:spcPts val="1800"/>
              </a:lnSpc>
            </a:pPr>
            <a:r>
              <a:rPr sz="1150" b="0">
                <a:solidFill>
                  <a:srgbClr val="F8F5EE"/>
                </a:solidFill>
                <a:latin typeface="Courier New"/>
              </a:rPr>
              <a:t/>
            </a:r>
          </a:p>
          <a:p>
            <a:pPr algn="l">
              <a:lnSpc>
                <a:spcPts val="1800"/>
              </a:lnSpc>
            </a:pPr>
            <a:r>
              <a:rPr sz="1150" b="0">
                <a:solidFill>
                  <a:srgbClr val="F8F5EE"/>
                </a:solidFill>
                <a:latin typeface="Courier New"/>
              </a:rPr>
              <a:t>match /users/{userId} {</a:t>
            </a:r>
          </a:p>
          <a:p>
            <a:pPr algn="l">
              <a:lnSpc>
                <a:spcPts val="1800"/>
              </a:lnSpc>
            </a:pPr>
            <a:r>
              <a:rPr sz="1150" b="0">
                <a:solidFill>
                  <a:srgbClr val="F8F5EE"/>
                </a:solidFill>
                <a:latin typeface="Courier New"/>
              </a:rPr>
              <a:t>  allow read: if request.auth.uid == userId;  // 本人のみ</a:t>
            </a:r>
          </a:p>
          <a:p>
            <a:pPr algn="l">
              <a:lnSpc>
                <a:spcPts val="1800"/>
              </a:lnSpc>
            </a:pPr>
            <a:r>
              <a:rPr sz="1150" b="0">
                <a:solidFill>
                  <a:srgbClr val="F8F5EE"/>
                </a:solidFill>
                <a:latin typeface="Courier New"/>
              </a:rPr>
              <a:t>  allow write: if isAdmin();</a:t>
            </a:r>
          </a:p>
          <a:p>
            <a:pPr algn="l">
              <a:lnSpc>
                <a:spcPts val="1800"/>
              </a:lnSpc>
            </a:pPr>
            <a:r>
              <a:rPr sz="1150" b="0">
                <a:solidFill>
                  <a:srgbClr val="F8F5EE"/>
                </a:solidFill>
                <a:latin typeface="Courier New"/>
              </a:rPr>
              <a:t>  allow update: if request.auth.uid == userId</a:t>
            </a:r>
          </a:p>
          <a:p>
            <a:pPr algn="l">
              <a:lnSpc>
                <a:spcPts val="1800"/>
              </a:lnSpc>
            </a:pPr>
            <a:r>
              <a:rPr sz="1150" b="0">
                <a:solidFill>
                  <a:srgbClr val="F8F5EE"/>
                </a:solidFill>
                <a:latin typeface="Courier New"/>
              </a:rPr>
              <a:t>    &amp;&amp; request.resource.data.diff(resource.data)</a:t>
            </a:r>
          </a:p>
          <a:p>
            <a:pPr algn="l">
              <a:lnSpc>
                <a:spcPts val="1800"/>
              </a:lnSpc>
            </a:pPr>
            <a:r>
              <a:rPr sz="1150" b="0">
                <a:solidFill>
                  <a:srgbClr val="F8F5EE"/>
                </a:solidFill>
                <a:latin typeface="Courier New"/>
              </a:rPr>
              <a:t>         .affectedKeys().hasOnly(['mustChangePassword']);</a:t>
            </a:r>
          </a:p>
          <a:p>
            <a:pPr algn="l">
              <a:lnSpc>
                <a:spcPts val="1800"/>
              </a:lnSpc>
            </a:pPr>
            <a:r>
              <a:rPr sz="1150" b="0">
                <a:solidFill>
                  <a:srgbClr val="F8F5EE"/>
                </a:solidFill>
                <a:latin typeface="Courier New"/>
              </a:rPr>
              <a:t>}</a:t>
            </a:r>
          </a:p>
          <a:p>
            <a:pPr algn="l">
              <a:lnSpc>
                <a:spcPts val="1800"/>
              </a:lnSpc>
            </a:pPr>
            <a:r>
              <a:rPr sz="1150" b="0">
                <a:solidFill>
                  <a:srgbClr val="F8F5EE"/>
                </a:solidFill>
                <a:latin typeface="Courier New"/>
              </a:rPr>
              <a:t/>
            </a:r>
          </a:p>
          <a:p>
            <a:pPr algn="l">
              <a:lnSpc>
                <a:spcPts val="1800"/>
              </a:lnSpc>
            </a:pPr>
            <a:r>
              <a:rPr sz="1150" b="0">
                <a:solidFill>
                  <a:srgbClr val="F8F5EE"/>
                </a:solidFill>
                <a:latin typeface="Courier New"/>
              </a:rPr>
              <a:t>match /audit_logs/{logId} { allow read, create: if isAdmin(); }</a:t>
            </a:r>
          </a:p>
          <a:p>
            <a:pPr algn="l">
              <a:lnSpc>
                <a:spcPts val="1800"/>
              </a:lnSpc>
            </a:pPr>
            <a:r>
              <a:rPr sz="1150" b="0">
                <a:solidFill>
                  <a:srgbClr val="F8F5EE"/>
                </a:solidFill>
                <a:latin typeface="Courier New"/>
              </a:rPr>
              <a:t>match /settings/{settingId} { allow read: if true; allow write: if isAdmin(); 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Noto Sans JP"/>
              </a:rPr>
              <a:t>XSS・入力バリデーション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20" y="182880"/>
            <a:ext cx="164592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2B4A"/>
                </a:solidFill>
                <a:latin typeface="Noto Sans JP"/>
              </a:rPr>
              <a:t>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394960" cy="530352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5394960" cy="5029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JP"/>
              </a:rPr>
              <a:t>クライアントサイド対策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00200"/>
            <a:ext cx="512064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JSX 自動エスケープ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・React JSX は {value} を自動エスケープ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・innerHTML 直接操作を排除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入力バリデーション (utils/validation.ts)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・isStrongPassword(): 4 カテゴリ必須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(大文字・小文字・数字・記号)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・isValidEmail(): RFC 準拠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連続ドット・末尾ドット拒否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・toHankaku(): 全角→半角正規化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(utils/security.ts)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郵便番号 API 検証 [SEC-12]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・Array.isArray() チェック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・各フィールドは string &amp;&amp; slice(0,50)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005840"/>
            <a:ext cx="5394960" cy="530352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005840"/>
            <a:ext cx="5394960" cy="5029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0515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JP"/>
              </a:rPr>
              <a:t>サーバーサイド・インフラ対策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600200"/>
            <a:ext cx="512064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Cloud Functions バリデーション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・validatePasswordComplexity()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・validateEmail()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・全 Cloud Function で実施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CSP ヘッダー [SEC-15]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・firebase.json で全ルールを設定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・script-src: *.firebase*, CDN のみ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・connect-src: *.run.app,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zipcloud, holidays-jp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・frame-src: Google Maps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・X-Frame-Options: SAMEORIGIN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・X-Content-Type-Options: nosniff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・Strict-Transport-Security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監査ログ [SEC-14]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・auditLog() でセキュリティ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イベントを GCP Cloud Logging へ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Noto Sans JP"/>
              </a:rPr>
              <a:t>レート制限・監査ログ・その他修正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20" y="182880"/>
            <a:ext cx="164592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2B4A"/>
                </a:solidFill>
                <a:latin typeface="Noto Sans JP"/>
              </a:rPr>
              <a:t>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11274552" cy="530352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レート制限 [SEC-11]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・全 Cloud Function に IP ベースのレート制限を実装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・5 req/min per IP（60 秒スライディングウィンドウ・インメモリ Map）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・超過時: 429 Too Many Requests を返し rate_limit.exceeded イベントをログ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キャンセル競合防止 TOCTOU 修正 [SEC-8]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・cancelReservation は Firestore transaction 内で再度ステータスを確認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・同時キャンセルリクエスト時の二重キャンセルを防止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その他セキュリティ修正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・[SEC-3]  予約照会を verifyReservation CF 経由に移行（電話番号照合必須）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・[SEC-4]  createAdminUser: Firestore 書き込み失敗時は Auth ユーザーもロールバック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・[SEC-5]  キャンセルを cancelReservation CF 経由に移行（未認証 update 廃止）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・[SEC-6]  管理者 UI でメールアドレスをマスク表示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・[SEC-10] window グローバル関数を廃止（addEventListener に移行）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・[SEC-13] Firebase API キー — Won't Fix（公式設計・ドメイン/API 制限済み）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60720"/>
            <a:ext cx="12188952" cy="10972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112745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Noto Sans JP"/>
              </a:rPr>
              <a:t>4. 画面設計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5EE"/>
                </a:solidFill>
                <a:latin typeface="Noto Sans JP"/>
              </a:rPr>
              <a:t>  患者向け予約フロー（4 ステップ）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5EE"/>
                </a:solidFill>
                <a:latin typeface="Noto Sans JP"/>
              </a:rPr>
              <a:t>  管理者ダッシュボード（KPI / 検索 / 詳細モーダル / completeVisit）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5EE"/>
                </a:solidFill>
                <a:latin typeface="Noto Sans JP"/>
              </a:rPr>
              <a:t>  設定画面（6 タブ / ポリシー・APPI対応）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Noto Sans JP"/>
              </a:rPr>
              <a:t>患者向け予約フロー（4ステップ）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20" y="182880"/>
            <a:ext cx="164592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2B4A"/>
                </a:solidFill>
                <a:latin typeface="Noto Sans JP"/>
              </a:rPr>
              <a:t>画面</a:t>
            </a:r>
          </a:p>
        </p:txBody>
      </p:sp>
      <p:pic>
        <p:nvPicPr>
          <p:cNvPr id="6" name="Picture 5" descr="01_calendar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7315200" cy="457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955279" y="1005840"/>
            <a:ext cx="3931920" cy="530352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39" y="1188720"/>
            <a:ext cx="3657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Step 1: 日時選択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・カレンダーで希望日を選択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・利用可能な時間枠をクリック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Step 2: 情報入力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・氏名・ふりがな・電話番号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・郵便番号→住所自動補完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・初診/再診・保険有無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Step 3: 確認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・入力内容の最終確認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Step 4: 完了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・予約ID 発行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・確認メール自動送信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Noto Sans JP"/>
              </a:rPr>
              <a:t>管理者ダッシュボード（/admin）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20" y="182880"/>
            <a:ext cx="164592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2B4A"/>
                </a:solidFill>
                <a:latin typeface="Noto Sans JP"/>
              </a:rPr>
              <a:t>画面</a:t>
            </a:r>
          </a:p>
        </p:txBody>
      </p:sp>
      <p:pic>
        <p:nvPicPr>
          <p:cNvPr id="6" name="Picture 5" descr="10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7315200" cy="457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955279" y="1005840"/>
            <a:ext cx="3931920" cy="530352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39" y="1188720"/>
            <a:ext cx="3657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KPI カード（4種）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・本日の予約数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・今月の予約数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・新規患者数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・未確認件数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予約一覧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・ステータス・日付・キーワード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　・郵便番号・電話番号で絞り込み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・行クリックで詳細モーダル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・ソート可（複数列対応）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詳細モーダル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・ステータス変更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・診察完了（visit_histories 保存）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・問診票PDF ダウンロード（pdf-lib）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・キャンセル（理由選択必須）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アクセスログ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・詳細モーダル閲覧: logAccess()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・問診票PDF DL: logAccess()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エクスポート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・CSV ダウンロード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Noto Sans JP"/>
              </a:rPr>
              <a:t>設定画面（/admin/settings）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20" y="182880"/>
            <a:ext cx="164592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2B4A"/>
                </a:solidFill>
                <a:latin typeface="Noto Sans JP"/>
              </a:rPr>
              <a:t>画面</a:t>
            </a:r>
          </a:p>
        </p:txBody>
      </p:sp>
      <p:pic>
        <p:nvPicPr>
          <p:cNvPr id="6" name="Picture 5" descr="13_settings_basic_inf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7315200" cy="457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955279" y="1005840"/>
            <a:ext cx="3931920" cy="530352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39" y="1188720"/>
            <a:ext cx="3657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タブ構成（6 タブ）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・基本情報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　院名・住所・電話番号・Google Maps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・営業日設定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　曜日別 ON/OFF + AM/PM 時間設定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　タイムラインバー・休日管理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・お知らせ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　バナー設定・メンテナンスモード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・利用規約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　規約テキスト・バージョン管理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・ポリシー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　PP・要配慮同意・保存期間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　患者権利窓口（APPI 第28〜30条）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　リマインダーメール ON/OFF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・アカウント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　管理者一覧・追加・削除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　パスワード変更リンク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保存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・「保存」ボタンで Firestore に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　即時反映（merge: true）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60720"/>
            <a:ext cx="12188952" cy="10972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112745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Noto Sans JP"/>
              </a:rPr>
              <a:t>5. 新機能（v4 エンハンス）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5EE"/>
                </a:solidFill>
                <a:latin typeface="Noto Sans JP"/>
              </a:rPr>
              <a:t>  i18n 多言語対応（react-i18next / 7言語 / 5ネームスペース）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5EE"/>
                </a:solidFill>
                <a:latin typeface="Noto Sans JP"/>
              </a:rPr>
              <a:t>  PWA 対応（vite-plugin-pwa / Workbox / offline cache / InstallBanner）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5EE"/>
                </a:solidFill>
                <a:latin typeface="Noto Sans JP"/>
              </a:rPr>
              <a:t>  問診票機能（/questionnaire / 18フィールド / pdf-lib PDF出力）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5EE"/>
                </a:solidFill>
                <a:latin typeface="Noto Sans JP"/>
              </a:rPr>
              <a:t>  診察履歴・APPI訂正権（completeVisit CF / visit_histories / corrections）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5EE"/>
                </a:solidFill>
                <a:latin typeface="Noto Sans JP"/>
              </a:rPr>
              <a:t>  アクセスログ・リマインダーopt-out（logAccess / HMAC-SHA256）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Noto Sans JP"/>
              </a:rPr>
              <a:t>i18n 多言語対応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20" y="182880"/>
            <a:ext cx="164592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2B4A"/>
                </a:solidFill>
                <a:latin typeface="Noto Sans JP"/>
              </a:rPr>
              <a:t>新機能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394960" cy="530352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5394960" cy="5029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JP"/>
              </a:rPr>
              <a:t>構成・対応言語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00200"/>
            <a:ext cx="512064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ライブラリ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・react-i18next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・i18next-browser-languagedetector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対応言語（7言語）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・ja  日本語（デフォルト）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・en  英語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・zh  中国語（簡体字）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・ko  韓国語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・vi  ベトナム語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・pt  ポルトガル語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・es  スペイン語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ネームスペース（5種）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・common   共通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・admin    管理者画面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・booking  予約フロー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・toast    通知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・questionnaire  問診票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LanguageSwitcher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・ヘッダーに variant=header で表示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・患者・管理者両方のヘッダーに配置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005840"/>
            <a:ext cx="5394960" cy="530352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005840"/>
            <a:ext cx="5394960" cy="5029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0515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JP"/>
              </a:rPr>
              <a:t>実装詳細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600200"/>
            <a:ext cx="512064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初期化（i18n/index.ts）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・I18nextProvider でアプリをラップ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・ブラウザ言語を自動検出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・fallbackLng: ja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翻訳ファイル構成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src/i18n/locales/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{lang}/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  common.json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  admin.json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  booking.json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  toast.json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  questionnaire.json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使い方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const { t } = useTranslation('admin');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t('dashboard.kpi.todayReservations')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PDF出力での多言語対応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・問診票PDFラベルは t() で取得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・管理者の表示言語に応じて出力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Noto Sans JP"/>
              </a:rPr>
              <a:t>PWA 対応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20" y="182880"/>
            <a:ext cx="164592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2B4A"/>
                </a:solidFill>
                <a:latin typeface="Noto Sans JP"/>
              </a:rPr>
              <a:t>新機能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394960" cy="530352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5394960" cy="5029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JP"/>
              </a:rPr>
              <a:t>技術構成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00200"/>
            <a:ext cx="512064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ライブラリ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・vite-plugin-pwa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・Workbox（Service Worker 生成）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vite.config.ts 設定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・VitePWA プラグイン追加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・registerType: autoUpdate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・workbox: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globPatterns: ['**/*.{js,css,html}']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runtimeCaching で API キャッシュ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Web App Manifest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・name: OAS 予約システム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・short_name: OAS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・display: standalone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・theme_color: #1A2B4A（ネイビー）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・background_color: #F8F5EE（クリーム）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・icons: 192px / 512px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005840"/>
            <a:ext cx="5394960" cy="530352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005840"/>
            <a:ext cx="5394960" cy="5029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0515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JP"/>
              </a:rPr>
              <a:t>オフライン・インストール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600200"/>
            <a:ext cx="512064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オフラインキャッシュ戦略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・Shell (HTML/CSS/JS): precache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・静的アセット: CacheFirst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最大30日 / 60エントリ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・Firebase API: NetworkFirst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オフライン時はキャッシュから提供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InstallBanner コンポーネント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・beforeinstallprompt イベントを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キャプチャして表示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・「ホーム画面に追加」ボタン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・一度閉じると localStorage に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dismissed=true を保存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Service Worker 更新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・autoUpdate: バックグラウンドで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自動更新・即時適用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・skipWaiting: true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Noto Sans JP"/>
              </a:rPr>
              <a:t>問診票機能（/questionnaire）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20" y="182880"/>
            <a:ext cx="164592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2B4A"/>
                </a:solidFill>
                <a:latin typeface="Noto Sans JP"/>
              </a:rPr>
              <a:t>新機能</a:t>
            </a:r>
          </a:p>
        </p:txBody>
      </p:sp>
      <p:pic>
        <p:nvPicPr>
          <p:cNvPr id="6" name="Picture 5" descr="08_questionnai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7315200" cy="457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955279" y="1005840"/>
            <a:ext cx="3931920" cy="530352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39" y="1188720"/>
            <a:ext cx="3657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ルート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・/questionnaire?id={reservationId}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予約確認メール内リンクから遷移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18フィールド（5セクション）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《主訴・症状》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・主訴 / 発症時期 / 痛み程度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・痛みの部位（複数選択）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・痛みの性質 / 日常生活への影響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《既往歴・治療状況》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・既往歴 / 現在の通院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・服用中の薬 / アレルギー / 手術歴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《生活習慣》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・睡眠 / 食事 / 運動 / ストレス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《その他》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・妊娠の可能性（3択）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・希望する施術 / その他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データ保存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・questionnaires/{reservationId}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に Firestore 保存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PDF出力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・generateQuestionnairePdf()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・pdf-lib + fontkit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・ファイル名: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問診票_{氏名}_{日付}.pdf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Noto Sans JP"/>
              </a:rPr>
              <a:t>診察履歴・APPI訂正権対応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20" y="182880"/>
            <a:ext cx="164592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2B4A"/>
                </a:solidFill>
                <a:latin typeface="Noto Sans JP"/>
              </a:rPr>
              <a:t>新機能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394960" cy="530352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5394960" cy="5029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JP"/>
              </a:rPr>
              <a:t>診察履歴（completeVisit CF）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00200"/>
            <a:ext cx="512064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診察完了フロー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① 管理者が詳細モーダルで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「診察完了」ボタンをクリック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② 確認ダイアログ表示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③ completeVisit CF 呼び出し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 （admin クレーム必須）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④ visit_histories/{id} に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 予約データをコピー保存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⑤ reservations.status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 = completed に更新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visit_histories コレクション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・completedAt: 診察完了日時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・completedBy: 管理者UID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・予約全フィールドをコピー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・immutable Firestore ルール: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管理者も update/delete 不可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（CF のみ書き込み可）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診察履歴ページ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・/admin/history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・検索・ページネーション（20件）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・CSV 出力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・詳細モーダル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005840"/>
            <a:ext cx="5394960" cy="530352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005840"/>
            <a:ext cx="5394960" cy="5029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0515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JP"/>
              </a:rPr>
              <a:t>APPI 訂正権（第34条）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600200"/>
            <a:ext cx="512064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correctVisitHistory CF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・admin クレーム必須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・訂正理由必須入力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・corrections サブコレクション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に immutable 追記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（元レコードは更新しない）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訂正可能フィールド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・氏名 / ふりがな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・生年月日 / 郵便番号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・住所 / 電話番号 / メール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・初診/再診 / 保険証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・性別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訂正不可フィールド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・症状（施術者判断記録）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・診察日時 / 完了者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・伝達事項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追記（addendum）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・症状等は直接訂正不可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・addendum フィールドで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事実誤記の補足説明可能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通知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・患者メールアドレスがあれば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訂正完了メール送信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・未登録時は手動通知を促す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Noto Sans JP"/>
              </a:rPr>
              <a:t>アクセスログ・リマインダーopt-out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20" y="182880"/>
            <a:ext cx="164592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2B4A"/>
                </a:solidFill>
                <a:latin typeface="Noto Sans JP"/>
              </a:rPr>
              <a:t>新機能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394960" cy="530352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5394960" cy="5029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JP"/>
              </a:rPr>
              <a:t>アクセスログ（logAccess）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00200"/>
            <a:ext cx="512064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目的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・個人情報アクセスの証跡管理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・APPI 対応・内部統制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ログ記録タイミング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・詳細モーダル閲覧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action: view_reservation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targetId: reservationId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data: { patientName }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・問診票PDFダウンロード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action: download_questionnaire_pdf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targetId: reservationId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data: { patientName }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・診察完了処理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action: complete_visit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（CF側でも記録）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コレクション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access_logs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・uid: 操作者UID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・action: アクション種別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・targetId: 対象ドキュメントID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・timestamp: 操作日時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・data: 付帯情報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Firestore ルール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・admin のみ read/create 可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005840"/>
            <a:ext cx="5394960" cy="530352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005840"/>
            <a:ext cx="5394960" cy="5029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0515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JP"/>
              </a:rPr>
              <a:t>リマインダーメール opt-out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600200"/>
            <a:ext cx="512064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フロー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① 予約確認メールに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opt-out URL を記載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（HMAC-SHA256 トークン付き）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② 患者がリンクをクリック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③ optOutReminder CF に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GET リクエスト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④ トークン検証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HMAC-SHA256(reservationId,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SECRET_KEY) と照合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⑤ 一致した場合: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reservations/{id}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.reminderConsent = false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に更新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セキュリティ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・トークンは URL-safe Base64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・SECRET_KEY は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Firebase Secret Manager で管理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・トークン不一致: 403 Forbidden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opt-in 設定（Settings）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・ポリシータブで機能 ON/OFF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・ON 時: 予約フォームに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「リマインダーメールを受け取る」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チェックボックスを表示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・患者が同意した場合のみ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sendDailyReminders で送信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60720"/>
            <a:ext cx="12188952" cy="10972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112745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Noto Sans JP"/>
              </a:rPr>
              <a:t>6. 運用・デプロイ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5EE"/>
                </a:solidFill>
                <a:latin typeface="Noto Sans JP"/>
              </a:rPr>
              <a:t>  Firebase Hosting マルチサイト構成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5EE"/>
                </a:solidFill>
                <a:latin typeface="Noto Sans JP"/>
              </a:rPr>
              <a:t>  デプロイコマンド（--only スコープ厳守）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5EE"/>
                </a:solidFill>
                <a:latin typeface="Noto Sans JP"/>
              </a:rPr>
              <a:t>  レガシー URL リダイレクト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Noto Sans JP"/>
              </a:rPr>
              <a:t>デプロイ構成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20" y="182880"/>
            <a:ext cx="164592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2B4A"/>
                </a:solidFill>
                <a:latin typeface="Noto Sans JP"/>
              </a:rPr>
              <a:t>運用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11274552" cy="530352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</a:pPr>
            <a:r>
              <a:rPr sz="1250" b="0">
                <a:solidFill>
                  <a:srgbClr val="1A2B4A"/>
                </a:solidFill>
                <a:latin typeface="Courier New"/>
              </a:rPr>
              <a:t>## Firebase Hosting マルチサイト</a:t>
            </a:r>
          </a:p>
          <a:p>
            <a:pPr algn="l">
              <a:lnSpc>
                <a:spcPts val="2100"/>
              </a:lnSpc>
            </a:pPr>
            <a:r>
              <a:rPr sz="1250" b="0">
                <a:solidFill>
                  <a:srgbClr val="1A2B4A"/>
                </a:solidFill>
                <a:latin typeface="Courier New"/>
              </a:rPr>
              <a:t>・portfolio: kojinius.jp</a:t>
            </a:r>
          </a:p>
          <a:p>
            <a:pPr algn="l">
              <a:lnSpc>
                <a:spcPts val="2100"/>
              </a:lnSpc>
            </a:pPr>
            <a:r>
              <a:rPr sz="1250" b="0">
                <a:solidFill>
                  <a:srgbClr val="1A2B4A"/>
                </a:solidFill>
                <a:latin typeface="Courier New"/>
              </a:rPr>
              <a:t>・oas: oas.kojinius.jp  ← OAS SPA の配信先</a:t>
            </a:r>
          </a:p>
          <a:p>
            <a:pPr algn="l">
              <a:lnSpc>
                <a:spcPts val="2100"/>
              </a:lnSpc>
            </a:pPr>
            <a:r>
              <a:rPr sz="1250" b="0">
                <a:solidFill>
                  <a:srgbClr val="1A2B4A"/>
                </a:solidFill>
                <a:latin typeface="Courier New"/>
              </a:rPr>
              <a:t/>
            </a:r>
          </a:p>
          <a:p>
            <a:pPr algn="l">
              <a:lnSpc>
                <a:spcPts val="2100"/>
              </a:lnSpc>
            </a:pPr>
            <a:r>
              <a:rPr sz="1250" b="0">
                <a:solidFill>
                  <a:srgbClr val="1A2B4A"/>
                </a:solidFill>
                <a:latin typeface="Courier New"/>
              </a:rPr>
              <a:t>## デプロイコマンド（スコープ指定を厳守）</a:t>
            </a:r>
          </a:p>
          <a:p>
            <a:pPr algn="l">
              <a:lnSpc>
                <a:spcPts val="2100"/>
              </a:lnSpc>
            </a:pPr>
            <a:r>
              <a:rPr sz="1250" b="0">
                <a:solidFill>
                  <a:srgbClr val="1A2B4A"/>
                </a:solidFill>
                <a:latin typeface="Courier New"/>
              </a:rPr>
              <a:t># Firestore ルール</a:t>
            </a:r>
          </a:p>
          <a:p>
            <a:pPr algn="l">
              <a:lnSpc>
                <a:spcPts val="2100"/>
              </a:lnSpc>
            </a:pPr>
            <a:r>
              <a:rPr sz="1250" b="0">
                <a:solidFill>
                  <a:srgbClr val="1A2B4A"/>
                </a:solidFill>
                <a:latin typeface="Courier New"/>
              </a:rPr>
              <a:t>firebase deploy --only firestore:rules --project project-3040e21e-879f-4c66-a7d</a:t>
            </a:r>
          </a:p>
          <a:p>
            <a:pPr algn="l">
              <a:lnSpc>
                <a:spcPts val="2100"/>
              </a:lnSpc>
            </a:pPr>
            <a:r>
              <a:rPr sz="1250" b="0">
                <a:solidFill>
                  <a:srgbClr val="1A2B4A"/>
                </a:solidFill>
                <a:latin typeface="Courier New"/>
              </a:rPr>
              <a:t/>
            </a:r>
          </a:p>
          <a:p>
            <a:pPr algn="l">
              <a:lnSpc>
                <a:spcPts val="2100"/>
              </a:lnSpc>
            </a:pPr>
            <a:r>
              <a:rPr sz="1250" b="0">
                <a:solidFill>
                  <a:srgbClr val="1A2B4A"/>
                </a:solidFill>
                <a:latin typeface="Courier New"/>
              </a:rPr>
              <a:t># Cloud Functions</a:t>
            </a:r>
          </a:p>
          <a:p>
            <a:pPr algn="l">
              <a:lnSpc>
                <a:spcPts val="2100"/>
              </a:lnSpc>
            </a:pPr>
            <a:r>
              <a:rPr sz="1250" b="0">
                <a:solidFill>
                  <a:srgbClr val="1A2B4A"/>
                </a:solidFill>
                <a:latin typeface="Courier New"/>
              </a:rPr>
              <a:t>firebase deploy --only functions --project project-3040e21e-879f-4c66-a7d</a:t>
            </a:r>
          </a:p>
          <a:p>
            <a:pPr algn="l">
              <a:lnSpc>
                <a:spcPts val="2100"/>
              </a:lnSpc>
            </a:pPr>
            <a:r>
              <a:rPr sz="1250" b="0">
                <a:solidFill>
                  <a:srgbClr val="1A2B4A"/>
                </a:solidFill>
                <a:latin typeface="Courier New"/>
              </a:rPr>
              <a:t/>
            </a:r>
          </a:p>
          <a:p>
            <a:pPr algn="l">
              <a:lnSpc>
                <a:spcPts val="2100"/>
              </a:lnSpc>
            </a:pPr>
            <a:r>
              <a:rPr sz="1250" b="0">
                <a:solidFill>
                  <a:srgbClr val="1A2B4A"/>
                </a:solidFill>
                <a:latin typeface="Courier New"/>
              </a:rPr>
              <a:t># Hosting (OAS SPA + portfolio)</a:t>
            </a:r>
          </a:p>
          <a:p>
            <a:pPr algn="l">
              <a:lnSpc>
                <a:spcPts val="2100"/>
              </a:lnSpc>
            </a:pPr>
            <a:r>
              <a:rPr sz="1250" b="0">
                <a:solidFill>
                  <a:srgbClr val="1A2B4A"/>
                </a:solidFill>
                <a:latin typeface="Courier New"/>
              </a:rPr>
              <a:t>firebase deploy --only hosting:oas,hosting:portfolio --project project-3040e21e-879f-4c66-a7d</a:t>
            </a:r>
          </a:p>
          <a:p>
            <a:pPr algn="l">
              <a:lnSpc>
                <a:spcPts val="2100"/>
              </a:lnSpc>
            </a:pPr>
            <a:r>
              <a:rPr sz="1250" b="0">
                <a:solidFill>
                  <a:srgbClr val="1A2B4A"/>
                </a:solidFill>
                <a:latin typeface="Courier New"/>
              </a:rPr>
              <a:t/>
            </a:r>
          </a:p>
          <a:p>
            <a:pPr algn="l">
              <a:lnSpc>
                <a:spcPts val="2100"/>
              </a:lnSpc>
            </a:pPr>
            <a:r>
              <a:rPr sz="1250" b="0">
                <a:solidFill>
                  <a:srgbClr val="1A2B4A"/>
                </a:solidFill>
                <a:latin typeface="Courier New"/>
              </a:rPr>
              <a:t>## レガシー URL リダイレクト</a:t>
            </a:r>
          </a:p>
          <a:p>
            <a:pPr algn="l">
              <a:lnSpc>
                <a:spcPts val="2100"/>
              </a:lnSpc>
            </a:pPr>
            <a:r>
              <a:rPr sz="1250" b="0">
                <a:solidFill>
                  <a:srgbClr val="1A2B4A"/>
                </a:solidFill>
                <a:latin typeface="Courier New"/>
              </a:rPr>
              <a:t>・旧 MPA URL（/index.html 等）→ SPA ルート（/）に 301 リダイレクト</a:t>
            </a:r>
          </a:p>
          <a:p>
            <a:pPr algn="l">
              <a:lnSpc>
                <a:spcPts val="2100"/>
              </a:lnSpc>
            </a:pPr>
            <a:r>
              <a:rPr sz="1250" b="0">
                <a:solidFill>
                  <a:srgbClr val="1A2B4A"/>
                </a:solidFill>
                <a:latin typeface="Courier New"/>
              </a:rPr>
              <a:t>・クライアントへ旧 URL を案内済みの場合も自動転送</a:t>
            </a:r>
          </a:p>
          <a:p>
            <a:pPr algn="l">
              <a:lnSpc>
                <a:spcPts val="2100"/>
              </a:lnSpc>
            </a:pPr>
            <a:r>
              <a:rPr sz="1250" b="0">
                <a:solidFill>
                  <a:srgbClr val="1A2B4A"/>
                </a:solidFill>
                <a:latin typeface="Courier New"/>
              </a:rPr>
              <a:t/>
            </a:r>
          </a:p>
          <a:p>
            <a:pPr algn="l">
              <a:lnSpc>
                <a:spcPts val="2100"/>
              </a:lnSpc>
            </a:pPr>
            <a:r>
              <a:rPr sz="1250" b="0">
                <a:solidFill>
                  <a:srgbClr val="1A2B4A"/>
                </a:solidFill>
                <a:latin typeface="Courier New"/>
              </a:rPr>
              <a:t>## Firebase プロジェクト</a:t>
            </a:r>
          </a:p>
          <a:p>
            <a:pPr algn="l">
              <a:lnSpc>
                <a:spcPts val="2100"/>
              </a:lnSpc>
            </a:pPr>
            <a:r>
              <a:rPr sz="1250" b="0">
                <a:solidFill>
                  <a:srgbClr val="1A2B4A"/>
                </a:solidFill>
                <a:latin typeface="Courier New"/>
              </a:rPr>
              <a:t>・project-3040e21e-879f-4c66-a7d（AMS と共有）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0"/>
            <a:ext cx="12188952" cy="13716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017520"/>
            <a:ext cx="112745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Noto Sans JP"/>
              </a:rPr>
              <a:t>Online Appointment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F8F5EE"/>
                </a:solidFill>
                <a:latin typeface="Noto Sans JP"/>
              </a:rPr>
              <a:t>詳細設計書  以上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D4AF37"/>
                </a:solidFill>
                <a:latin typeface="Noto Sans JP"/>
              </a:rPr>
              <a:t>oas.kojinius.jp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