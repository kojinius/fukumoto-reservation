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11274552" cy="73152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Online Appointment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CF0DE"/>
                </a:solidFill>
                <a:latin typeface="Noto Sans JP"/>
              </a:rPr>
              <a:t>詳細設計書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CF0DE"/>
                </a:solidFill>
                <a:latin typeface="Noto Sans JP"/>
              </a:rPr>
              <a:t>2026年3月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システム概要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058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08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技術スタック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5087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アーキテクチャ設計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011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6888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514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Firestore データモデル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5146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7180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6324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Cloud Functions 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0175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47472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56616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520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セキュリティ設計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520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7764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105156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1005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Firestore セキュリティルール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10058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146304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155448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1508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XSS・入力バリデーション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15087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196596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205740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患者向け予約フロー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2011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46888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256032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2514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管理者ダッシュボード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25146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97180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306324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設定画面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64240" y="30175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347472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3566160"/>
            <a:ext cx="45720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3520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デプロイ構成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3520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7355"/>
                </a:solidFill>
                <a:latin typeface="Noto Sans JP"/>
              </a:rPr>
              <a:t>p.19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977640"/>
            <a:ext cx="5486400" cy="18288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1. システム概要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システム目的・主要機能・非機能要件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技術スタック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システム概要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5661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35661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システム目的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・鍼灸整骨院向けオンライン予約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・24時間受付対応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・管理者はリアルタイムで予約管理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5661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005840"/>
            <a:ext cx="35661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主要機能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・患者向け予約フロー（3ステップ）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・予約管理ダッシュボード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・設定管理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（営業時間・休日・お知らせ）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・ユーザー管理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05840"/>
            <a:ext cx="35661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05840"/>
            <a:ext cx="35661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非機能要件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・セキュリティ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（XSS・Firestore Rules）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・モバイル対応（レスポンシブ）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・日本語フォント対応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・SSL/TLS（Let's Encrypt）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技術スタック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技術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5661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35661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フロントエンド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・HTML5 / CSS3 / JavaScript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・Firebase v10 ESM CDN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・pdf-lib / fontkit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（PDF生成）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・Playwright（自動テスト）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5661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005840"/>
            <a:ext cx="35661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バックエンド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・Firebase Authentication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・Cloud Firestore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（asia-northeast1）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・Cloud Functions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（Node.js 22）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・firebase-admin v12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05840"/>
            <a:ext cx="35661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05840"/>
            <a:ext cx="35661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インフラ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・Firebase Hosting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・カスタムドメイン: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oas.kojinius.jp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・さくらインターネット DNS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・Let's Encrypt SSL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2. アーキテクチャ設計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ディレクトリ構成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Firestore データモデル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Cloud Functions 設計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ディレクトリ構成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構成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apps/OnlineAppointSystem/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index.html          # 患者向けトップ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cancel.html         # 予約キャンセル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auth-action.html    # メール認証アクション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privacy.html        # プライバシーポリシー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admin.html          # 管理者ダッシュボード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login.html          # 管理者ログイン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css/style.css       # 共通スタイル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js/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│   ├── app.js          # 患者向けロジック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│   ├── admin.js        # 管理者ロジック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│   └── auth.js         # 認証モジュール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└── fonts/              # 日本語フォント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functions/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├── index.js            # Cloud Functions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3D2B1F"/>
                </a:solidFill>
                <a:latin typeface="Courier New"/>
              </a:rPr>
              <a:t>└── package.json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Firestore データモデル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DB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3949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3949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コレクション一覧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1206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reservations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・id, date, time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・name, phone, email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・address, note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・status, createdAt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settings/clinic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・clinicName, address, phone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・businessHours, holidays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・announcement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users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・email, role, createdAt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05840"/>
            <a:ext cx="539496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05840"/>
            <a:ext cx="5394960" cy="50292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status の値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51206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・pending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→ 未対応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・done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→ 対応済み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・cancelled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→ キャンセル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Cloud Functions 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sendReservationEmail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1274552" cy="12435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109728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・Firestore reservations トリガー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・予約完了時に患者へメール送信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・院内情報の連絡先を差出人に設定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98064"/>
            <a:ext cx="11274552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4378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sendCancellationEmail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55264"/>
            <a:ext cx="11274552" cy="475488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0098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・キャンセル時に通知メールを送信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22192"/>
            <a:ext cx="11274552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679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createAdminUser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79392"/>
            <a:ext cx="11274552" cy="859536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25112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・管理者アカウント作成（onCall）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・admin カスタムクレームを付与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230368"/>
            <a:ext cx="11274552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760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deleteUser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87568"/>
            <a:ext cx="11274552" cy="475488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・ユーザー削除（onCall）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3. セキュリティ設計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認証・認可設計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Firestore セキュリティルール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XSS・入力バリデーション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認証・認可設計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Auth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認証方式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・Firebase Authentication（Email/Password）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・管理者: admin カスタムクレーム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・セッション: browserSessionPersistence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認可ルール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・患者向けページ: 認証不要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・管理者ページ: admin クレーム必須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・Firestore Rules: 読み書きを認証ユーザーに限定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パスワードリセット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・sendPasswordResetEmail で再設定リンク送信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・actionURL は import.meta.url で動的解決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Firestore セキュリティルール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3D2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rules_version = '2';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service cloud.firestore {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match /databases/{database}/documents {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// reservations: 認証ユーザーのみ読み書き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match /reservations/{id} {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  allow read, write: if request.auth != null;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}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// settings: 認証ユーザーのみ読み書き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match /settings/{id} {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  allow read, write: if request.auth != null;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}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// users: 認証ユーザーのみ読み書き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match /users/{id} {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  allow read, write: if request.auth != null;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}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// 未認証: すべて拒否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match /{document=**} {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  allow read, write: if false;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  }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  }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FCF0DE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XSS・入力バリデーション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XSS 対策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・innerHTML に直接文字列を代入しない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・textContent を使用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・サーバーサイドバリデーションも実施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入力バリデーション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・電話番号: 数字・ハイフンのみ許可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・メールアドレス: RFC 準拠フォーマット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・フォームの必須チェック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セキュリティヘッダー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・X-Content-Type-Options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・X-Frame-Options</a:t>
            </a:r>
          </a:p>
          <a:p>
            <a:pPr algn="l">
              <a:lnSpc>
                <a:spcPts val="24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・Strict-Transport-Security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4. 画面設計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患者向け予約フロー（3ステップ）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管理者ダッシュボード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設定画面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患者向け予約フロー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pic>
        <p:nvPicPr>
          <p:cNvPr id="6" name="Picture 5" descr="01_calenda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3152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05840"/>
            <a:ext cx="393192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39" y="118872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## Step 1: 日時選択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・カレンダーで希望日を選択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・利用可能な時間枠をクリック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## Step 2: 情報入力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・氏名・電話番号・住所を入力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・郵便番号から住所を自動補完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## Step 3: 確認・完了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・予約内容を確認して送信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・完了画面で予約IDを表示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管理者ダッシュボード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pic>
        <p:nvPicPr>
          <p:cNvPr id="6" name="Picture 5" descr="0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3152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05840"/>
            <a:ext cx="393192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39" y="118872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## ダッシュボード機能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・当日の予約一覧表示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・ステータス管理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　（未対応 / 対応済 / キャンセル）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・CSV 出力・PDF 印刷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## 詳細モーダル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・予約者全情報の確認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・ステータス変更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設定画面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pic>
        <p:nvPicPr>
          <p:cNvPr id="6" name="Picture 5" descr="11_settings_clinic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3152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05840"/>
            <a:ext cx="3931920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39" y="118872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## 設定項目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・院内情報（院名・連絡先）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・営業時間（曜日別）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・休日設定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・お知らせバナー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・アカウント設定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3D2B1F"/>
                </a:solidFill>
                <a:latin typeface="Noto Sans JP"/>
              </a:rPr>
              <a:t>・ユーザー管理（新機能）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5. 運用・デプロイ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Firebase Hosting マルチサイト構成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0DE"/>
                </a:solidFill>
                <a:latin typeface="Noto Sans JP"/>
              </a:rPr>
              <a:t>  デプロイコマンド・環境情報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デプロイ構成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37160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運用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Firebase Hosting マルチサイト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・portfolio サイト: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　project-3040e21e-879f-4c66-a7d  →  kojinius.jp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・oas サイト: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　oas-kojinius  →  oas.kojinius.jp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デプロイコマンド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・firebase deploy --only hosting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・firebase deploy --only functions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/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## 環境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・本番: oas.kojinius.jp</a:t>
            </a:r>
          </a:p>
          <a:p>
            <a:pPr algn="l">
              <a:lnSpc>
                <a:spcPts val="2600"/>
              </a:lnSpc>
            </a:pPr>
            <a:r>
              <a:rPr sz="1400" b="0">
                <a:solidFill>
                  <a:srgbClr val="3D2B1F"/>
                </a:solidFill>
                <a:latin typeface="Noto Sans JP"/>
              </a:rPr>
              <a:t>・Firebase プロジェクト: project-3040e21e-879f-4c66-a7d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017520"/>
            <a:ext cx="11274552" cy="73152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Online Appointment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CF0DE"/>
                </a:solidFill>
                <a:latin typeface="Noto Sans JP"/>
              </a:rPr>
              <a:t>詳細設計書  以上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79321"/>
                </a:solidFill>
                <a:latin typeface="Noto Sans JP"/>
              </a:rPr>
              <a:t>oas.kojinius.jp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