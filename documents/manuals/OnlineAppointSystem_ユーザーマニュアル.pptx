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Noto Sans JP"/>
              </a:rPr>
              <a:t>Online Appointment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D4AF37"/>
                </a:solidFill>
                <a:latin typeface="Noto Sans JP"/>
              </a:rPr>
              <a:t>ユーザーマニュアル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4114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C9E"/>
                </a:solidFill>
                <a:latin typeface="Noto Sans JP"/>
              </a:rPr>
              <a:t>2026年3月  |  React SPA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029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1A2B4A"/>
                </a:solidFill>
                <a:latin typeface="Noto Sans JP"/>
              </a:rPr>
              <a:t>OAS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患者向け機能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44168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01  トップページ（カレンダー日時選択）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02  時間枠の選択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03  お客様情報入力（Step 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04  確認画面（Step 3）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369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05  予約完了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06  予約キャンセル（/cancel）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782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07  プライバシーポリシー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98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08  モバイル対応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868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管理者向け機能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44168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09  管理者ログイン（/login）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5681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10  予約ダッシュボード（/admin）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59152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11  予約詳細モーダル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61488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12  設定 - 基本情報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63824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13  設定 - 営業時間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66160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14  設定 - 休日設定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15  設定 - お知らせ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70832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16  設定 - アカウント・ユーザー管理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73168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17  パスワード変更（/admin/change-password）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75504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18  リマインダーメール設定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Noto Sans JP"/>
              </a:rPr>
              <a:t>患者向け機能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40"/>
            <a:ext cx="32004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カレンダーで日時を選択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お客様情報を入力（郵便番号自動補完）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確認 → 予約完了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キャンセル・プライバシーポリシー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スマートフォン対応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トップページ（カレンダー）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患者向け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https://oas.kojinius.jp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アクセス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・ブラウザで URL を開くだけ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・アプリインストール不要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カレンダーの見方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・グレー = 予約不可（休業日・過去日）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・通常色 = 予約可能な日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・希望日をクリックで時間枠を表示</a:t>
            </a:r>
          </a:p>
        </p:txBody>
      </p:sp>
      <p:pic>
        <p:nvPicPr>
          <p:cNvPr id="10" name="Picture 9" descr="01_calenda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時間枠の選択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患者向け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Step 1 — 日時選択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時間枠を選ぶ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・希望日をクリック後に時間枠が表示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・「予約済み」枠は選択不可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・選択した枠はハイライト表示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次のステップ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・枠を選択後「次へ」ボタンが有効に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・クリックで情報入力フォームへ</a:t>
            </a:r>
          </a:p>
        </p:txBody>
      </p:sp>
      <p:pic>
        <p:nvPicPr>
          <p:cNvPr id="10" name="Picture 9" descr="02_time_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お客様情報入力（Step 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患者向け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必要事項をご入力ください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入力項目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・お名前・ふりがな（必須）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・生年月日（任意）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・電話番号（必須）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・メールアドレス（任意）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・住所（郵便番号→自動補完）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・性別・初診/再診・保険有無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・症状・連絡方法（任意）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郵便番号自動補完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・7桁入力で住所を自動入力</a:t>
            </a:r>
          </a:p>
          <a:p>
            <a:r>
              <a:rPr sz="1200">
                <a:solidFill>
                  <a:srgbClr val="B45A00"/>
                </a:solidFill>
                <a:latin typeface="Noto Sans JP"/>
              </a:rPr>
              <a:t>⚠ 半角数字で入力してください</a:t>
            </a:r>
          </a:p>
        </p:txBody>
      </p:sp>
      <p:pic>
        <p:nvPicPr>
          <p:cNvPr id="10" name="Picture 9" descr="03_form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553" y="868680"/>
            <a:ext cx="404948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確認画面（Step 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患者向け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予約内容を最終確認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予約内容の確認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・日時・お名前・連絡先を最終確認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・「修正する」で前の画面に戻れます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予約の確定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・「この内容で予約する」で確定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・サーバー側で空き確認後に登録</a:t>
            </a:r>
          </a:p>
          <a:p>
            <a:r>
              <a:rPr sz="500"/>
              <a:t/>
            </a:r>
          </a:p>
          <a:p>
            <a:r>
              <a:rPr sz="1200">
                <a:solidFill>
                  <a:srgbClr val="B45A00"/>
                </a:solidFill>
                <a:latin typeface="Noto Sans JP"/>
              </a:rPr>
              <a:t>⚠ 「予約済み」になった場合は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別の時間帯をお選びください</a:t>
            </a:r>
          </a:p>
        </p:txBody>
      </p:sp>
      <p:pic>
        <p:nvPicPr>
          <p:cNvPr id="10" name="Picture 9" descr="05_confirm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予約完了（Step 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患者向け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予約が完了しました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完了後の流れ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・予約 ID が画面に表示されます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・メールアドレスを入力した場合は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確認メールが届きます</a:t>
            </a:r>
          </a:p>
          <a:p>
            <a:r>
              <a:rPr sz="500"/>
              <a:t/>
            </a:r>
          </a:p>
          <a:p>
            <a:r>
              <a:rPr sz="1200">
                <a:solidFill>
                  <a:srgbClr val="B45A00"/>
                </a:solidFill>
                <a:latin typeface="Noto Sans JP"/>
              </a:rPr>
              <a:t>⚠ 予約 ID はキャンセル時に必要です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スクリーンショットで保存推奨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868680"/>
            <a:ext cx="7845552" cy="56692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429000"/>
            <a:ext cx="7845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JP"/>
              </a:rPr>
              <a:t>（スクリーンショット準備中）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予約キャンセル（/cancel）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患者向け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キャンセルの手順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キャンセル方法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・予約 ID を入力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・電話番号を入力（照合用）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・「キャンセルする」をクリック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セキュリティ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・電話番号が一致しないと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キャンセル不可（なりすまし防止）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・キャンセル通知メールが届きます</a:t>
            </a:r>
          </a:p>
          <a:p>
            <a:r>
              <a:rPr sz="500"/>
              <a:t/>
            </a:r>
          </a:p>
          <a:p>
            <a:r>
              <a:rPr sz="1200">
                <a:solidFill>
                  <a:srgbClr val="B45A00"/>
                </a:solidFill>
                <a:latin typeface="Noto Sans JP"/>
              </a:rPr>
              <a:t>⚠ 前日までのキャンセルを推奨</a:t>
            </a:r>
          </a:p>
        </p:txBody>
      </p:sp>
      <p:pic>
        <p:nvPicPr>
          <p:cNvPr id="10" name="Picture 9" descr="06_cance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プライバシーポリシー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患者向け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https://oas.kojinius.jp/privacy-policy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個人情報の取り扱い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・入力情報は予約管理のみに使用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・第三者への提供は行いません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・お問い合わせは院内窓口まで</a:t>
            </a:r>
          </a:p>
        </p:txBody>
      </p:sp>
      <p:pic>
        <p:nvPicPr>
          <p:cNvPr id="10" name="Picture 9" descr="07_privacy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モバイル対応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患者向け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スマートフォンからも利用可能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スマートフォン対応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・iOS・Android 対応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・ブラウザでアクセスするだけ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・アプリインストール不要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操作性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・タッチ操作に最適化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・ボタン・カレンダー全対応</a:t>
            </a:r>
          </a:p>
        </p:txBody>
      </p:sp>
      <p:pic>
        <p:nvPicPr>
          <p:cNvPr id="10" name="Picture 9" descr="m01_calendar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451" y="868680"/>
            <a:ext cx="261969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Noto Sans JP"/>
              </a:rPr>
              <a:t>管理者向け機能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40"/>
            <a:ext cx="32004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管理者ログイン（/login）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予約ダッシュボード・KPIカード・CSV/PDF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設定（基本情報・営業時間・休日・お知らせ・アカウント）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ユーザー管理・パスワード変更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80"/>
                </a:solidFill>
                <a:latin typeface="Noto Sans JP"/>
              </a:rPr>
              <a:t>▸  リマインダーメール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管理者ログイン（/login）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管理画面へのアクセス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ログイン方法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・メールアドレスとパスワードを入力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・「ログイン」ボタンをクリック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初回ログイン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・初回は仮パスワードを使用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・ログイン後、パスワード変更画面に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自動リダイレクト（強制変更）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パスワードを忘れた場合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・「パスワードを忘れた方」リンクから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リセットメールを送信</a:t>
            </a:r>
          </a:p>
        </p:txBody>
      </p:sp>
      <p:pic>
        <p:nvPicPr>
          <p:cNvPr id="10" name="Picture 9" descr="08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予約ダッシュボード（/admin）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予約の一括管理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KPI カード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・本日 / 今月 / 新規 / 未確認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・クリックで一覧を絞り込み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予約一覧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・ステータス・日付・キーワードで絞り込み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・行クリックで詳細モーダル表示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エクスポート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・CSV ダウンロード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・PDF 印刷（pdf-lib 使用）</a:t>
            </a:r>
          </a:p>
        </p:txBody>
      </p:sp>
      <p:pic>
        <p:nvPicPr>
          <p:cNvPr id="10" name="Picture 9" descr="09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予約詳細モーダル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予約情報の確認と更新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詳細情報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・予約者の全情報を確認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・症状・伝達事項を確認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ステータス変更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・「確認済み」に変更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・「キャンセル」に変更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・変更は即時 Firestore に反映</a:t>
            </a:r>
          </a:p>
        </p:txBody>
      </p:sp>
      <p:pic>
        <p:nvPicPr>
          <p:cNvPr id="10" name="Picture 9" descr="10_reservation_detail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設定 - 基本情報（/admin/settings）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クリニック基本情報の管理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設定項目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・院名（必須）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・住所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・電話番号（必須）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・その他情報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保存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・「保存」ボタンで即時反映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・トップページの院情報に連動</a:t>
            </a:r>
          </a:p>
        </p:txBody>
      </p:sp>
      <p:pic>
        <p:nvPicPr>
          <p:cNvPr id="10" name="Picture 9" descr="11_settings_clinic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設定 - 営業時間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予約受付時間の設定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設定方法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・曜日ごとに ON/OFF 切り替え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・開始・終了時間を入力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カレンダーへの反映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・設定後、即座に予約フォームに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反映される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・OFF 設定日は予約不可に</a:t>
            </a:r>
          </a:p>
        </p:txBody>
      </p:sp>
      <p:pic>
        <p:nvPicPr>
          <p:cNvPr id="10" name="Picture 9" descr="12_settings_business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設定 - 休日設定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休診日・祝日の登録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休日の登録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・カレンダーから休日を選択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・休日名を任意で入力可能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カレンダーへの反映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・登録した日は予約不可に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・グレー表示で視覚的に識別</a:t>
            </a:r>
          </a:p>
        </p:txBody>
      </p:sp>
      <p:pic>
        <p:nvPicPr>
          <p:cNvPr id="10" name="Picture 9" descr="13_settings_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設定 - お知らせ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患者向けバナーメッセージ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お知らせ機能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・トップページにバナー表示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・テキスト内容の編集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・ON/OFF 切り替え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活用例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・臨時休診のお知らせ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・年末年始の受付時間変更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・院内イベントの告知</a:t>
            </a:r>
          </a:p>
        </p:txBody>
      </p:sp>
      <p:pic>
        <p:nvPicPr>
          <p:cNvPr id="10" name="Picture 9" descr="14_settings_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設定 - アカウント・ユーザー管理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管理者アカウントの管理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ユーザー管理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・管理者アカウントの一覧表示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・メールアドレスはマスク表示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・新規管理者の追加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・不要アカウントの削除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アカウント設定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・パスワード変更ページへのリンク</a:t>
            </a:r>
          </a:p>
          <a:p>
            <a:r>
              <a:rPr sz="500"/>
              <a:t/>
            </a:r>
          </a:p>
          <a:p>
            <a:r>
              <a:rPr sz="1200">
                <a:solidFill>
                  <a:srgbClr val="B45A00"/>
                </a:solidFill>
                <a:latin typeface="Noto Sans JP"/>
              </a:rPr>
              <a:t>⚠ 管理者追加後は初回ログイン時に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パスワード変更が強制されます</a:t>
            </a:r>
          </a:p>
        </p:txBody>
      </p:sp>
      <p:pic>
        <p:nvPicPr>
          <p:cNvPr id="10" name="Picture 9" descr="15_settings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5158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パスワード変更（/admin/change-password）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管理者パスワードの変更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パスワード変更手順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・現在のパスワードを入力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・新しいパスワードを入力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・確認用パスワードを再入力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・「変更する」をクリック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パスワード要件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・8文字以上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・大文字・小文字・数字・記号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　各1文字以上必須</a:t>
            </a:r>
          </a:p>
          <a:p>
            <a:r>
              <a:rPr sz="500"/>
              <a:t/>
            </a:r>
          </a:p>
          <a:p>
            <a:r>
              <a:rPr sz="1200">
                <a:solidFill>
                  <a:srgbClr val="B45A00"/>
                </a:solidFill>
                <a:latin typeface="Noto Sans JP"/>
              </a:rPr>
              <a:t>⚠ 初回ログイン時は変更必須です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868680"/>
            <a:ext cx="7845552" cy="56692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429000"/>
            <a:ext cx="7845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JP"/>
              </a:rPr>
              <a:t>（スクリーンショット準備中）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通知メール・リマインダー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  <a:latin typeface="Noto Sans JP"/>
              </a:rPr>
              <a:t>管理者向け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5800"/>
            <a:ext cx="3931920" cy="60350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自動メール配信の仕組み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3657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A"/>
                </a:solidFill>
                <a:latin typeface="Noto Sans JP"/>
              </a:rPr>
              <a:t>予約確認メール（自動）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・予約完了時に患者へ自動送信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・院内情報の連絡先が差出人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キャンセル通知メール（自動）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・キャンセル完了時に自動送信</a:t>
            </a:r>
          </a:p>
          <a:p>
            <a:r>
              <a:rPr sz="500"/>
              <a:t/>
            </a:r>
          </a:p>
          <a:p>
            <a:r>
              <a:rPr sz="1400" b="1">
                <a:solidFill>
                  <a:srgbClr val="1A2B4A"/>
                </a:solidFill>
                <a:latin typeface="Noto Sans JP"/>
              </a:rPr>
              <a:t>リマインダーメール（毎日自動）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・翌日の予約者へ前日夜に送信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・Cloud Functions スケジュール実行</a:t>
            </a:r>
          </a:p>
          <a:p>
            <a:r>
              <a:rPr sz="1300">
                <a:solidFill>
                  <a:srgbClr val="1A2B4A"/>
                </a:solidFill>
                <a:latin typeface="Noto Sans JP"/>
              </a:rPr>
              <a:t>・(sendDailyReminders)</a:t>
            </a:r>
          </a:p>
          <a:p>
            <a:r>
              <a:rPr sz="500"/>
              <a:t/>
            </a:r>
          </a:p>
          <a:p>
            <a:r>
              <a:rPr sz="1200">
                <a:solidFill>
                  <a:srgbClr val="B45A00"/>
                </a:solidFill>
                <a:latin typeface="Noto Sans JP"/>
              </a:rPr>
              <a:t>⚠ メール送信は Resend API を使用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868680"/>
            <a:ext cx="7845552" cy="56692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429000"/>
            <a:ext cx="7845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JP"/>
              </a:rPr>
              <a:t>（スクリーンショット準備中）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JP"/>
              </a:rPr>
              <a:t>ご利用ありがとうございます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57600"/>
            <a:ext cx="57607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  <a:latin typeface="Noto Sans JP"/>
              </a:rPr>
              <a:t>Online Appointment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Noto Sans JP"/>
              </a:rPr>
              <a:t>https://oas.kojinius.jp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