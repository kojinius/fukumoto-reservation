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Noto Sans JP"/>
              </a:rPr>
              <a:t>Online Appointment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79321"/>
                </a:solidFill>
                <a:latin typeface="Noto Sans JP"/>
              </a:rPr>
              <a:t>ユーザーマニュアル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383280"/>
            <a:ext cx="4114800" cy="4572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B7355"/>
                </a:solidFill>
                <a:latin typeface="Noto Sans JP"/>
              </a:rPr>
              <a:t>2026年3月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50292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735763"/>
                </a:solidFill>
                <a:latin typeface="Noto Sans JP"/>
              </a:rPr>
              <a:t>OAS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8B7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35763"/>
                </a:solidFill>
                <a:latin typeface="Noto Sans JP"/>
              </a:rPr>
              <a:t>患者向け機能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44168"/>
            <a:ext cx="2286000" cy="36576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01  トップページ（カレンダー）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8424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02  時間枠の選択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14016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03  お客様情報入力（Step 2）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43784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04  確認画面（Step 3）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7355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05  予約キャンセル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033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06  プライバシーポリシー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07  モバイル対応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8686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35763"/>
                </a:solidFill>
                <a:latin typeface="Noto Sans JP"/>
              </a:rPr>
              <a:t>管理者向け機能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344168"/>
            <a:ext cx="2286000" cy="36576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54480"/>
            <a:ext cx="5212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08  管理者ログイン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956816"/>
            <a:ext cx="5212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09  予約ダッシュボード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359152"/>
            <a:ext cx="5212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10  予約詳細モーダル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761488"/>
            <a:ext cx="5212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11  設定 - 院内情報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163824"/>
            <a:ext cx="5212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12  設定 - 営業時間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566160"/>
            <a:ext cx="5212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13  設定 - 休日設定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968496"/>
            <a:ext cx="5212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14  設定 - お知らせ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370832"/>
            <a:ext cx="5212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15  設定 - アカウント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773168"/>
            <a:ext cx="5212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16  ユーザー管理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175504"/>
            <a:ext cx="5212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2B1F"/>
                </a:solidFill>
                <a:latin typeface="Noto Sans JP"/>
              </a:rPr>
              <a:t>17  通知メール設定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CF0DE"/>
                </a:solidFill>
                <a:latin typeface="Noto Sans JP"/>
              </a:rPr>
              <a:t>患者向け機能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91840"/>
            <a:ext cx="3200400" cy="54864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5A0"/>
                </a:solidFill>
                <a:latin typeface="Noto Sans JP"/>
              </a:rPr>
              <a:t>▸  トップページ（カレンダー）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5A0"/>
                </a:solidFill>
                <a:latin typeface="Noto Sans JP"/>
              </a:rPr>
              <a:t>▸  時間枠の選択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5A0"/>
                </a:solidFill>
                <a:latin typeface="Noto Sans JP"/>
              </a:rPr>
              <a:t>▸  お客様情報入力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5A0"/>
                </a:solidFill>
                <a:latin typeface="Noto Sans JP"/>
              </a:rPr>
              <a:t>▸  確認画面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5A0"/>
                </a:solidFill>
                <a:latin typeface="Noto Sans JP"/>
              </a:rPr>
              <a:t>▸  予約キャンセル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150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5A0"/>
                </a:solidFill>
                <a:latin typeface="Noto Sans JP"/>
              </a:rPr>
              <a:t>▸  プライバシーポリシー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12648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5A0"/>
                </a:solidFill>
                <a:latin typeface="Noto Sans JP"/>
              </a:rPr>
              <a:t>▸  モバイル対応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トップページ（カレンダー）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患者向け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予約受付の入口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アクセス方法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・ブラウザで https://oas.kojinius.jp を開く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・予約可能日はカレンダーで表示</a:t>
            </a:r>
          </a:p>
          <a:p>
            <a:r>
              <a:rPr sz="600"/>
              <a:t/>
            </a:r>
          </a:p>
          <a:p>
            <a:r>
              <a:rPr sz="1500" b="1">
                <a:solidFill>
                  <a:srgbClr val="735763"/>
                </a:solidFill>
                <a:latin typeface="Noto Sans JP"/>
              </a:rPr>
              <a:t>カレンダーの見方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・グレー = 予約不可（休業日・過去日）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・通常 = 予約可能な日</a:t>
            </a:r>
          </a:p>
        </p:txBody>
      </p:sp>
      <p:pic>
        <p:nvPicPr>
          <p:cNvPr id="10" name="Picture 9" descr="01_calendar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時間枠の選択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患者向け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希望の時間帯を選ぶ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時間枠を選ぶ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・希望日をクリックして時間枠を表示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・「予約済み」は選択不可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・選択した枠はハイライト表示</a:t>
            </a:r>
          </a:p>
          <a:p>
            <a:r>
              <a:rPr sz="600"/>
              <a:t/>
            </a:r>
          </a:p>
          <a:p>
            <a:r>
              <a:rPr sz="1500" b="1">
                <a:solidFill>
                  <a:srgbClr val="735763"/>
                </a:solidFill>
                <a:latin typeface="Noto Sans JP"/>
              </a:rPr>
              <a:t>次のステップ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・枠選択後「次へ → 情報入力」ボタンが有効に</a:t>
            </a:r>
          </a:p>
        </p:txBody>
      </p:sp>
      <p:pic>
        <p:nvPicPr>
          <p:cNvPr id="10" name="Picture 9" descr="02_time_s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お客様情報入力（Step 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患者向け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必要事項をご入力ください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入力項目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・お名前（必須）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・電話番号（必須）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・メールアドレス（任意）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・住所（郵便番号で自動入力）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・症状・伝達事項（任意）</a:t>
            </a:r>
          </a:p>
          <a:p>
            <a:r>
              <a:rPr sz="600"/>
              <a:t/>
            </a:r>
          </a:p>
          <a:p>
            <a:r>
              <a:rPr sz="1500" b="1">
                <a:solidFill>
                  <a:srgbClr val="735763"/>
                </a:solidFill>
                <a:latin typeface="Noto Sans JP"/>
              </a:rPr>
              <a:t>郵便番号機能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・7桁入力で住所を自動補完</a:t>
            </a:r>
          </a:p>
        </p:txBody>
      </p:sp>
      <p:pic>
        <p:nvPicPr>
          <p:cNvPr id="10" name="Picture 9" descr="03_form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8553" y="868680"/>
            <a:ext cx="404948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確認画面（Step 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患者向け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予約内容を最終確認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予約内容の確認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・日時・お名前・連絡先を最終確認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・「この内容で予約する」で完了</a:t>
            </a:r>
          </a:p>
          <a:p>
            <a:r>
              <a:rPr sz="600"/>
              <a:t/>
            </a:r>
          </a:p>
          <a:p>
            <a:r>
              <a:rPr sz="1500" b="1">
                <a:solidFill>
                  <a:srgbClr val="735763"/>
                </a:solidFill>
                <a:latin typeface="Noto Sans JP"/>
              </a:rPr>
              <a:t>予約完了後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・予約IDが発行されます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・確認メールが送信されます</a:t>
            </a:r>
          </a:p>
        </p:txBody>
      </p:sp>
      <p:pic>
        <p:nvPicPr>
          <p:cNvPr id="10" name="Picture 9" descr="05_confirm_ste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予約キャンセル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患者向け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キャンセルの手順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キャンセル方法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・予約IDを入力してキャンセル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・確認後、取り消しが完了</a:t>
            </a:r>
          </a:p>
          <a:p>
            <a:r>
              <a:rPr sz="600"/>
              <a:t/>
            </a:r>
          </a:p>
          <a:p>
            <a:r>
              <a:rPr sz="1500" b="1">
                <a:solidFill>
                  <a:srgbClr val="735763"/>
                </a:solidFill>
                <a:latin typeface="Noto Sans JP"/>
              </a:rPr>
              <a:t>注意事項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・前日までのキャンセルを推奨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・キャンセル通知メールが届きます</a:t>
            </a:r>
          </a:p>
        </p:txBody>
      </p:sp>
      <p:pic>
        <p:nvPicPr>
          <p:cNvPr id="10" name="Picture 9" descr="06_cancel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プライバシーポリシー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患者向け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個人情報の取り扱いについて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個人情報の取り扱い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・入力情報は予約管理のみに使用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・第三者への提供は行いません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・問い合わせは院内窓口まで</a:t>
            </a:r>
          </a:p>
        </p:txBody>
      </p:sp>
      <p:pic>
        <p:nvPicPr>
          <p:cNvPr id="10" name="Picture 9" descr="07_privacy_pol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モバイル対応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患者向け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スマートフォンからも利用可能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スマートフォンでも利用可能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・iOS・Android 対応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・ブラウザでアクセスするだけ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・アプリインストール不要</a:t>
            </a:r>
          </a:p>
        </p:txBody>
      </p:sp>
      <p:pic>
        <p:nvPicPr>
          <p:cNvPr id="10" name="Picture 9" descr="m01_calendar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451" y="868680"/>
            <a:ext cx="261969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CF0DE"/>
                </a:solidFill>
                <a:latin typeface="Noto Sans JP"/>
              </a:rPr>
              <a:t>管理者向け機能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91840"/>
            <a:ext cx="3200400" cy="54864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5A0"/>
                </a:solidFill>
                <a:latin typeface="Noto Sans JP"/>
              </a:rPr>
              <a:t>▸  管理者ログイン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5A0"/>
                </a:solidFill>
                <a:latin typeface="Noto Sans JP"/>
              </a:rPr>
              <a:t>▸  予約ダッシュボード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5A0"/>
                </a:solidFill>
                <a:latin typeface="Noto Sans JP"/>
              </a:rPr>
              <a:t>▸  予約詳細モーダル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5A0"/>
                </a:solidFill>
                <a:latin typeface="Noto Sans JP"/>
              </a:rPr>
              <a:t>▸  設定（院内情報・営業時間・休日・お知らせ・アカウント）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5A0"/>
                </a:solidFill>
                <a:latin typeface="Noto Sans JP"/>
              </a:rPr>
              <a:t>▸  ユーザー管理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150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D5A0"/>
                </a:solidFill>
                <a:latin typeface="Noto Sans JP"/>
              </a:rPr>
              <a:t>▸  通知メール設定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管理者ログイン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管理者向け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管理画面へのアクセス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ログイン方法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・メールアドレスとパスワードを入力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・「ログイン」ボタンをクリック</a:t>
            </a:r>
          </a:p>
          <a:p>
            <a:r>
              <a:rPr sz="600"/>
              <a:t/>
            </a:r>
          </a:p>
          <a:p>
            <a:r>
              <a:rPr sz="1500" b="1">
                <a:solidFill>
                  <a:srgbClr val="735763"/>
                </a:solidFill>
                <a:latin typeface="Noto Sans JP"/>
              </a:rPr>
              <a:t>パスワード忘れた場合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・「パスワードを忘れた方」から</a:t>
            </a:r>
          </a:p>
          <a:p>
            <a:r>
              <a:rPr sz="1300">
                <a:solidFill>
                  <a:srgbClr val="3D2B1F"/>
                </a:solidFill>
                <a:latin typeface="Noto Sans JP"/>
              </a:rPr>
              <a:t>　リセットメール送信</a:t>
            </a:r>
          </a:p>
        </p:txBody>
      </p:sp>
      <p:pic>
        <p:nvPicPr>
          <p:cNvPr id="10" name="Picture 9" descr="08_login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予約ダッシュボード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管理者向け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本日の予約を一括管理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ダッシュボード概要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・本日の予約一覧が表示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・患者名・時間・ステータスを一覧確認</a:t>
            </a:r>
          </a:p>
          <a:p>
            <a:r>
              <a:rPr sz="600"/>
              <a:t/>
            </a:r>
          </a:p>
          <a:p>
            <a:r>
              <a:rPr sz="1500" b="1">
                <a:solidFill>
                  <a:srgbClr val="735763"/>
                </a:solidFill>
                <a:latin typeface="Noto Sans JP"/>
              </a:rPr>
              <a:t>操作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・行をクリックで詳細モーダル表示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・CSV 出力・PDF 印刷に対応</a:t>
            </a:r>
          </a:p>
        </p:txBody>
      </p:sp>
      <p:pic>
        <p:nvPicPr>
          <p:cNvPr id="10" name="Picture 9" descr="09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予約詳細モーダル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管理者向け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予約情報の確認と更新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詳細情報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・予約者の全情報を確認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・症状・伝達事項を確認</a:t>
            </a:r>
          </a:p>
          <a:p>
            <a:r>
              <a:rPr sz="600"/>
              <a:t/>
            </a:r>
          </a:p>
          <a:p>
            <a:r>
              <a:rPr sz="1500" b="1">
                <a:solidFill>
                  <a:srgbClr val="735763"/>
                </a:solidFill>
                <a:latin typeface="Noto Sans JP"/>
              </a:rPr>
              <a:t>ステータス変更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・対応済み / キャンセル に変更可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・変更は即時 Firestore に反映</a:t>
            </a:r>
          </a:p>
        </p:txBody>
      </p:sp>
      <p:pic>
        <p:nvPicPr>
          <p:cNvPr id="10" name="Picture 9" descr="10_reservation_detail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設定 - 院内情報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管理者向け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クリニック基本情報の管理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院内情報の編集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・院名・住所・電話番号を設定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・トップページに表示される情報</a:t>
            </a:r>
          </a:p>
          <a:p>
            <a:r>
              <a:rPr sz="600"/>
              <a:t/>
            </a:r>
          </a:p>
          <a:p>
            <a:r>
              <a:rPr sz="1500" b="1">
                <a:solidFill>
                  <a:srgbClr val="735763"/>
                </a:solidFill>
                <a:latin typeface="Noto Sans JP"/>
              </a:rPr>
              <a:t>保存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・「保存」ボタンで即時反映</a:t>
            </a:r>
          </a:p>
        </p:txBody>
      </p:sp>
      <p:pic>
        <p:nvPicPr>
          <p:cNvPr id="10" name="Picture 9" descr="11_settings_clinic_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設定 - 営業時間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管理者向け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予約受付時間の設定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営業時間の設定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・曜日ごとに ON/OFF 切り替え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・開始・終了時間を入力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・カレンダーの予約可否に即反映</a:t>
            </a:r>
          </a:p>
        </p:txBody>
      </p:sp>
      <p:pic>
        <p:nvPicPr>
          <p:cNvPr id="10" name="Picture 9" descr="12_settings_business_h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設定 - 休日設定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管理者向け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休診日・祝日の登録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休日の登録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・カレンダーから休日を選択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・祝日名を任意入力可能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・登録した日はカレンダーで予約不可に</a:t>
            </a:r>
          </a:p>
        </p:txBody>
      </p:sp>
      <p:pic>
        <p:nvPicPr>
          <p:cNvPr id="10" name="Picture 9" descr="13_settings_holi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設定 - お知らせ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管理者向け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患者向けバナーメッセージ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お知らせ機能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・トップページにバナー表示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・テキストと表示 ON/OFF を設定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・休診のお知らせなどに活用</a:t>
            </a:r>
          </a:p>
        </p:txBody>
      </p:sp>
      <p:pic>
        <p:nvPicPr>
          <p:cNvPr id="10" name="Picture 9" descr="14_settings_announ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設定 - アカウント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管理者向け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管理者アカウント情報の変更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アカウント設定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・管理者メールアドレスの変更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・パスワードの変更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・変更後は再ログインが必要</a:t>
            </a:r>
          </a:p>
        </p:txBody>
      </p:sp>
      <p:pic>
        <p:nvPicPr>
          <p:cNvPr id="10" name="Picture 9" descr="15_settings_ac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ユーザー管理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管理者向け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管理者アカウントの追加・削除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ユーザー管理機能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・管理者アカウントの追加・削除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・メールアドレスで新規招待</a:t>
            </a:r>
          </a:p>
          <a:p>
            <a:r>
              <a:rPr sz="600"/>
              <a:t/>
            </a:r>
          </a:p>
          <a:p>
            <a:r>
              <a:rPr sz="1500" b="1">
                <a:solidFill>
                  <a:srgbClr val="735763"/>
                </a:solidFill>
                <a:latin typeface="Noto Sans JP"/>
              </a:rPr>
              <a:t>権限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・管理者権限は admin クレームで制御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・一般ユーザーは管理画面にアクセス不可</a:t>
            </a:r>
          </a:p>
        </p:txBody>
      </p:sp>
      <p:pic>
        <p:nvPicPr>
          <p:cNvPr id="10" name="Picture 9" descr="16_settings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251585"/>
            <a:ext cx="7845552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JP"/>
              </a:rPr>
              <a:t>通知メール設定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94392" y="91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管理者向け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5800"/>
            <a:ext cx="3931920" cy="6035040"/>
          </a:xfrm>
          <a:prstGeom prst="rect">
            <a:avLst/>
          </a:prstGeom>
          <a:solidFill>
            <a:srgbClr val="FC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822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7355"/>
                </a:solidFill>
                <a:latin typeface="Noto Sans JP"/>
              </a:rPr>
              <a:t>自動メール配信の仕組み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188720"/>
            <a:ext cx="36576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35763"/>
                </a:solidFill>
                <a:latin typeface="Noto Sans JP"/>
              </a:rPr>
              <a:t>予約通知メール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・予約完了時に患者へ自動送信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・院内情報の連絡先が差出人に設定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・キャンセル時も通知メールを送信</a:t>
            </a:r>
          </a:p>
          <a:p>
            <a:r>
              <a:rPr sz="600"/>
              <a:t/>
            </a:r>
          </a:p>
          <a:p>
            <a:r>
              <a:rPr sz="1500" b="1">
                <a:solidFill>
                  <a:srgbClr val="735763"/>
                </a:solidFill>
                <a:latin typeface="Noto Sans JP"/>
              </a:rPr>
              <a:t>カスタマイズ</a:t>
            </a:r>
          </a:p>
          <a:p>
            <a:pPr lvl="1"/>
            <a:r>
              <a:rPr sz="1300">
                <a:solidFill>
                  <a:srgbClr val="3D2B1F"/>
                </a:solidFill>
                <a:latin typeface="Noto Sans JP"/>
              </a:rPr>
              <a:t>・メール文面は Firebase Functions で管理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868680"/>
            <a:ext cx="7845552" cy="56692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0520" y="3429000"/>
            <a:ext cx="7845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Noto Sans JP"/>
              </a:rPr>
              <a:t>（スクリーンショット準備中）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357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Noto Sans JP"/>
              </a:rPr>
              <a:t>ご利用ありがとうございます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657600"/>
            <a:ext cx="5760720" cy="54864"/>
          </a:xfrm>
          <a:prstGeom prst="rect">
            <a:avLst/>
          </a:prstGeom>
          <a:solidFill>
            <a:srgbClr val="F79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79321"/>
                </a:solidFill>
                <a:latin typeface="Noto Sans JP"/>
              </a:rPr>
              <a:t>Online Appointment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Noto Sans JP"/>
              </a:rPr>
              <a:t>https://oas.kojinius.jp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