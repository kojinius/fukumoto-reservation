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35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011680"/>
            <a:ext cx="640080" cy="54864"/>
          </a:xfrm>
          <a:prstGeom prst="rect">
            <a:avLst/>
          </a:prstGeom>
          <a:solidFill>
            <a:srgbClr val="F79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400"/>
              </a:lnSpc>
            </a:pPr>
            <a:r>
              <a:rPr sz="4400" b="1">
                <a:solidFill>
                  <a:srgbClr val="FFFFFF"/>
                </a:solidFill>
                <a:latin typeface="Noto Sans JP"/>
              </a:rPr>
              <a:t>福元鍼灸整骨院</a:t>
            </a:r>
          </a:p>
          <a:p>
            <a:pPr algn="l">
              <a:lnSpc>
                <a:spcPts val="5400"/>
              </a:lnSpc>
            </a:pPr>
            <a:r>
              <a:rPr sz="4400" b="1">
                <a:solidFill>
                  <a:srgbClr val="FFFFFF"/>
                </a:solidFill>
                <a:latin typeface="Noto Sans JP"/>
              </a:rPr>
              <a:t>オンライン予約システム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605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CF0DE"/>
                </a:solidFill>
                <a:latin typeface="Noto Sans JP"/>
              </a:rPr>
              <a:t>本番運用ロードマップ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79321"/>
                </a:solidFill>
                <a:latin typeface="Noto Sans JP"/>
              </a:rPr>
              <a:t>Phase 1〜5　全工程・概算見積もり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CF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735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 JP"/>
              </a:rPr>
              <a:t>アジェンダ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914400"/>
            <a:ext cx="5669280" cy="548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26480" y="914400"/>
            <a:ext cx="5669280" cy="5486400"/>
          </a:xfrm>
          <a:prstGeom prst="rect">
            <a:avLst/>
          </a:prstGeom>
          <a:solidFill>
            <a:srgbClr val="F5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515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735763"/>
                </a:solidFill>
                <a:latin typeface="Noto Sans JP"/>
              </a:rPr>
              <a:t>Phase 1　インフラ構築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35608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3040"/>
                </a:solidFill>
                <a:latin typeface="Noto Sans JP"/>
              </a:rPr>
              <a:t>🔥 Firebase プロジェクト構築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09928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3040"/>
                </a:solidFill>
                <a:latin typeface="Noto Sans JP"/>
              </a:rPr>
              <a:t>🌐 ホスティング・ドメイン設定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84248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3040"/>
                </a:solidFill>
                <a:latin typeface="Noto Sans JP"/>
              </a:rPr>
              <a:t>🗄️ データベース設計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58568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3040"/>
                </a:solidFill>
                <a:latin typeface="Noto Sans JP"/>
              </a:rPr>
              <a:t>🔐 認証実装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32888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3040"/>
                </a:solidFill>
                <a:latin typeface="Noto Sans JP"/>
              </a:rPr>
              <a:t>📧 メール送信 API 構築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9718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735763"/>
                </a:solidFill>
                <a:latin typeface="Noto Sans JP"/>
              </a:rPr>
              <a:t>Phase 2　コード移行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355848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3040"/>
                </a:solidFill>
                <a:latin typeface="Noto Sans JP"/>
              </a:rPr>
              <a:t>💾 localStorage → Firestore 移行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630168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3040"/>
                </a:solidFill>
                <a:latin typeface="Noto Sans JP"/>
              </a:rPr>
              <a:t>⚡ リアルタイム同期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904488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3040"/>
                </a:solidFill>
                <a:latin typeface="Noto Sans JP"/>
              </a:rPr>
              <a:t>🔒 二重予約防止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3040"/>
                </a:solidFill>
                <a:latin typeface="Noto Sans JP"/>
              </a:rPr>
              <a:t>🛡️ 管理画面認証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10515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735763"/>
                </a:solidFill>
                <a:latin typeface="Noto Sans JP"/>
              </a:rPr>
              <a:t>Phase 3　通知機能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435608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3040"/>
                </a:solidFill>
                <a:latin typeface="Noto Sans JP"/>
              </a:rPr>
              <a:t>📩 患者への確認メール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709928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3040"/>
                </a:solidFill>
                <a:latin typeface="Noto Sans JP"/>
              </a:rPr>
              <a:t>🔔 管理者通知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984248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3040"/>
                </a:solidFill>
                <a:latin typeface="Noto Sans JP"/>
              </a:rPr>
              <a:t>⏰ リマインダー（任意）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4231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735763"/>
                </a:solidFill>
                <a:latin typeface="Noto Sans JP"/>
              </a:rPr>
              <a:t>Phase 4〜5　仕上げ・リリース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807208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3040"/>
                </a:solidFill>
                <a:latin typeface="Noto Sans JP"/>
              </a:rPr>
              <a:t>✏️ コンテンツ修正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081528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3040"/>
                </a:solidFill>
                <a:latin typeface="Noto Sans JP"/>
              </a:rPr>
              <a:t>📅 祝日対応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355848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3040"/>
                </a:solidFill>
                <a:latin typeface="Noto Sans JP"/>
              </a:rPr>
              <a:t>🔐 セキュリティルール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630168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3040"/>
                </a:solidFill>
                <a:latin typeface="Noto Sans JP"/>
              </a:rPr>
              <a:t>✅ 動作確認・デプロイ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735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 JP"/>
              </a:rPr>
              <a:t>Phase 1　インフラ構築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0" y="182880"/>
            <a:ext cx="1371600" cy="457200"/>
          </a:xfrm>
          <a:prstGeom prst="rect">
            <a:avLst/>
          </a:prstGeom>
          <a:solidFill>
            <a:srgbClr val="F79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JP"/>
              </a:rPr>
              <a:t>🔴 MUST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914400"/>
            <a:ext cx="3657600" cy="5577840"/>
          </a:xfrm>
          <a:prstGeom prst="rect">
            <a:avLst/>
          </a:prstGeom>
          <a:solidFill>
            <a:srgbClr val="FCF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9728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</a:pPr>
            <a:r>
              <a:rPr sz="1800" b="1">
                <a:solidFill>
                  <a:srgbClr val="735763"/>
                </a:solidFill>
                <a:latin typeface="Noto Sans JP"/>
              </a:rPr>
              <a:t>🔥 Firebase</a:t>
            </a:r>
          </a:p>
          <a:p>
            <a:pPr algn="l">
              <a:lnSpc>
                <a:spcPts val="2400"/>
              </a:lnSpc>
            </a:pPr>
            <a:r>
              <a:rPr sz="1800" b="1">
                <a:solidFill>
                  <a:srgbClr val="735763"/>
                </a:solidFill>
                <a:latin typeface="Noto Sans JP"/>
              </a:rPr>
              <a:t>プロジェクト構築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9202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3040"/>
                </a:solidFill>
                <a:latin typeface="Noto Sans JP"/>
              </a:rPr>
              <a:t>・プロジェクト作成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17627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3040"/>
                </a:solidFill>
                <a:latin typeface="Noto Sans JP"/>
              </a:rPr>
              <a:t>・Firestore DB 作成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43230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3040"/>
                </a:solidFill>
                <a:latin typeface="Noto Sans JP"/>
              </a:rPr>
              <a:t>・Firebase Hosting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68833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3040"/>
                </a:solidFill>
                <a:latin typeface="Noto Sans JP"/>
              </a:rPr>
              <a:t>  （静的ファイルの配信サービス）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94436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3040"/>
                </a:solidFill>
                <a:latin typeface="Noto Sans JP"/>
              </a:rPr>
              <a:t>・Firebase Auth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2004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3040"/>
                </a:solidFill>
                <a:latin typeface="Noto Sans JP"/>
              </a:rPr>
              <a:t>  （認証サービス）設定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5989320"/>
            <a:ext cx="3291840" cy="384048"/>
          </a:xfrm>
          <a:prstGeom prst="rect">
            <a:avLst/>
          </a:prstGeom>
          <a:solidFill>
            <a:srgbClr val="735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79321"/>
                </a:solidFill>
                <a:latin typeface="Noto Sans JP"/>
              </a:rPr>
              <a:t>工数：約 0.5日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0" y="914400"/>
            <a:ext cx="3657600" cy="5577840"/>
          </a:xfrm>
          <a:prstGeom prst="rect">
            <a:avLst/>
          </a:prstGeom>
          <a:solidFill>
            <a:srgbClr val="FCF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109728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</a:pPr>
            <a:r>
              <a:rPr sz="1800" b="1">
                <a:solidFill>
                  <a:srgbClr val="735763"/>
                </a:solidFill>
                <a:latin typeface="Noto Sans JP"/>
              </a:rPr>
              <a:t>🌐 ドメイン・</a:t>
            </a:r>
          </a:p>
          <a:p>
            <a:pPr algn="l">
              <a:lnSpc>
                <a:spcPts val="2400"/>
              </a:lnSpc>
            </a:pPr>
            <a:r>
              <a:rPr sz="1800" b="1">
                <a:solidFill>
                  <a:srgbClr val="735763"/>
                </a:solidFill>
                <a:latin typeface="Noto Sans JP"/>
              </a:rPr>
              <a:t>SSL 設定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19202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3040"/>
                </a:solidFill>
                <a:latin typeface="Noto Sans JP"/>
              </a:rPr>
              <a:t>・独自ドメイン取得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217627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3040"/>
                </a:solidFill>
                <a:latin typeface="Noto Sans JP"/>
              </a:rPr>
              <a:t>  （例: yoyaku.fukumoto.jp）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243230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3040"/>
                </a:solidFill>
                <a:latin typeface="Noto Sans JP"/>
              </a:rPr>
              <a:t>・SSL（暗号化通信）証明書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268833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3040"/>
                </a:solidFill>
                <a:latin typeface="Noto Sans JP"/>
              </a:rPr>
              <a:t>  → Firebase が自動発行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294436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3040"/>
                </a:solidFill>
                <a:latin typeface="Noto Sans JP"/>
              </a:rPr>
              <a:t>・DNS 設定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32004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3040"/>
                </a:solidFill>
                <a:latin typeface="Noto Sans JP"/>
              </a:rPr>
              <a:t>  （ドメインの名前解決）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80" y="5989320"/>
            <a:ext cx="3291840" cy="384048"/>
          </a:xfrm>
          <a:prstGeom prst="rect">
            <a:avLst/>
          </a:prstGeom>
          <a:solidFill>
            <a:srgbClr val="735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79321"/>
                </a:solidFill>
                <a:latin typeface="Noto Sans JP"/>
              </a:rPr>
              <a:t>工数：約 0.5日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46720" y="914400"/>
            <a:ext cx="3657600" cy="5577840"/>
          </a:xfrm>
          <a:prstGeom prst="rect">
            <a:avLst/>
          </a:prstGeom>
          <a:solidFill>
            <a:srgbClr val="FCF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09728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</a:pPr>
            <a:r>
              <a:rPr sz="1800" b="1">
                <a:solidFill>
                  <a:srgbClr val="735763"/>
                </a:solidFill>
                <a:latin typeface="Noto Sans JP"/>
              </a:rPr>
              <a:t>📧 メール送信</a:t>
            </a:r>
          </a:p>
          <a:p>
            <a:pPr algn="l">
              <a:lnSpc>
                <a:spcPts val="2400"/>
              </a:lnSpc>
            </a:pPr>
            <a:r>
              <a:rPr sz="1800" b="1">
                <a:solidFill>
                  <a:srgbClr val="735763"/>
                </a:solidFill>
                <a:latin typeface="Noto Sans JP"/>
              </a:rPr>
              <a:t>API 構築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19202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3040"/>
                </a:solidFill>
                <a:latin typeface="Noto Sans JP"/>
              </a:rPr>
              <a:t>・Resend または SendGrid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217627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3040"/>
                </a:solidFill>
                <a:latin typeface="Noto Sans JP"/>
              </a:rPr>
              <a:t>  （メール送信サービス）契約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243230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3040"/>
                </a:solidFill>
                <a:latin typeface="Noto Sans JP"/>
              </a:rPr>
              <a:t>・Firebase Functions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268833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3040"/>
                </a:solidFill>
                <a:latin typeface="Noto Sans JP"/>
              </a:rPr>
              <a:t>  （サーバーレス関数）で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94436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3040"/>
                </a:solidFill>
                <a:latin typeface="Noto Sans JP"/>
              </a:rPr>
              <a:t>  送信ロジック実装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32004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3040"/>
                </a:solidFill>
                <a:latin typeface="Noto Sans JP"/>
              </a:rPr>
              <a:t>・SPF/DKIM 認証設定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345643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3040"/>
                </a:solidFill>
                <a:latin typeface="Noto Sans JP"/>
              </a:rPr>
              <a:t>  （迷惑メール対策）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0" y="5989320"/>
            <a:ext cx="3291840" cy="384048"/>
          </a:xfrm>
          <a:prstGeom prst="rect">
            <a:avLst/>
          </a:prstGeom>
          <a:solidFill>
            <a:srgbClr val="735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79321"/>
                </a:solidFill>
                <a:latin typeface="Noto Sans JP"/>
              </a:rPr>
              <a:t>工数：約 1.5日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735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 JP"/>
              </a:rPr>
              <a:t>Phase 2　コード移行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0" y="182880"/>
            <a:ext cx="1371600" cy="457200"/>
          </a:xfrm>
          <a:prstGeom prst="rect">
            <a:avLst/>
          </a:prstGeom>
          <a:solidFill>
            <a:srgbClr val="F79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JP"/>
              </a:rPr>
              <a:t>🔴 MUST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960120"/>
            <a:ext cx="5029200" cy="5486400"/>
          </a:xfrm>
          <a:prstGeom prst="rect">
            <a:avLst/>
          </a:prstGeom>
          <a:solidFill>
            <a:srgbClr val="FCF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2377440" cy="347472"/>
          </a:xfrm>
          <a:prstGeom prst="rect">
            <a:avLst/>
          </a:prstGeom>
          <a:solidFill>
            <a:srgbClr val="F5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735763"/>
                </a:solidFill>
                <a:latin typeface="Noto Sans JP"/>
              </a:rPr>
              <a:t>Before　現在の構成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</a:pPr>
            <a:r>
              <a:rPr sz="2200" b="1">
                <a:solidFill>
                  <a:srgbClr val="9B7E8E"/>
                </a:solidFill>
                <a:latin typeface="Noto Sans JP"/>
              </a:rPr>
              <a:t>localStorage</a:t>
            </a:r>
          </a:p>
          <a:p>
            <a:pPr algn="l">
              <a:lnSpc>
                <a:spcPts val="2800"/>
              </a:lnSpc>
            </a:pPr>
            <a:r>
              <a:rPr sz="2200" b="1">
                <a:solidFill>
                  <a:srgbClr val="9B7E8E"/>
                </a:solidFill>
                <a:latin typeface="Noto Sans JP"/>
              </a:rPr>
              <a:t>（ブラウザ内ストレージ）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68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735763"/>
                </a:solidFill>
                <a:latin typeface="Noto Sans JP"/>
              </a:rPr>
              <a:t>❌ 他のデバイスから見えない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163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735763"/>
                </a:solidFill>
                <a:latin typeface="Noto Sans JP"/>
              </a:rPr>
              <a:t>❌ ブラウザを消すとデータ消失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6382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735763"/>
                </a:solidFill>
                <a:latin typeface="Noto Sans JP"/>
              </a:rPr>
              <a:t>❌ 二重予約が起きる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51129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735763"/>
                </a:solidFill>
                <a:latin typeface="Noto Sans JP"/>
              </a:rPr>
              <a:t>❌ 管理画面に認証なし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320040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79321"/>
                </a:solidFill>
                <a:latin typeface="Noto Sans JP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0" y="960120"/>
            <a:ext cx="5394960" cy="5486400"/>
          </a:xfrm>
          <a:prstGeom prst="rect">
            <a:avLst/>
          </a:prstGeom>
          <a:solidFill>
            <a:srgbClr val="735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75120" y="1097280"/>
            <a:ext cx="2103120" cy="347472"/>
          </a:xfrm>
          <a:prstGeom prst="rect">
            <a:avLst/>
          </a:prstGeom>
          <a:solidFill>
            <a:srgbClr val="5A4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79321"/>
                </a:solidFill>
                <a:latin typeface="Noto Sans JP"/>
              </a:rPr>
              <a:t>After　本番構成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155448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</a:pPr>
            <a:r>
              <a:rPr sz="2200" b="1">
                <a:solidFill>
                  <a:srgbClr val="F79321"/>
                </a:solidFill>
                <a:latin typeface="Noto Sans JP"/>
              </a:rPr>
              <a:t>Firestore</a:t>
            </a:r>
          </a:p>
          <a:p>
            <a:pPr algn="l">
              <a:lnSpc>
                <a:spcPts val="2800"/>
              </a:lnSpc>
            </a:pPr>
            <a:r>
              <a:rPr sz="2200" b="1">
                <a:solidFill>
                  <a:srgbClr val="F79321"/>
                </a:solidFill>
                <a:latin typeface="Noto Sans JP"/>
              </a:rPr>
              <a:t>（Firebase のクラウド DB）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4688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CF0DE"/>
                </a:solidFill>
                <a:latin typeface="Noto Sans JP"/>
              </a:rPr>
              <a:t>✅ 全デバイスからリアルタイム同期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7889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CF0DE"/>
                </a:solidFill>
                <a:latin typeface="Noto Sans JP"/>
              </a:rPr>
              <a:t>✅ データは永続化・クラウド保存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1089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CF0DE"/>
                </a:solidFill>
                <a:latin typeface="Noto Sans JP"/>
              </a:rPr>
              <a:t>✅ トランザクション（排他制御）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4290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CF0DE"/>
                </a:solidFill>
                <a:latin typeface="Noto Sans JP"/>
              </a:rPr>
              <a:t>   で二重予約防止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37490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CF0DE"/>
                </a:solidFill>
                <a:latin typeface="Noto Sans JP"/>
              </a:rPr>
              <a:t>✅ Firebase Auth（認証サービス）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40690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CF0DE"/>
                </a:solidFill>
                <a:latin typeface="Noto Sans JP"/>
              </a:rPr>
              <a:t>   で管理画面保護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75120" y="5669280"/>
            <a:ext cx="4937760" cy="384048"/>
          </a:xfrm>
          <a:prstGeom prst="rect">
            <a:avLst/>
          </a:prstGeom>
          <a:solidFill>
            <a:srgbClr val="F79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735763"/>
                </a:solidFill>
                <a:latin typeface="Noto Sans JP"/>
              </a:rPr>
              <a:t>工数：約 3〜4日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735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 JP"/>
              </a:rPr>
              <a:t>Phase 3　通知機能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0" y="182880"/>
            <a:ext cx="1371600" cy="457200"/>
          </a:xfrm>
          <a:prstGeom prst="rect">
            <a:avLst/>
          </a:prstGeom>
          <a:solidFill>
            <a:srgbClr val="F79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JP"/>
              </a:rPr>
              <a:t>🔴 MUST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914400"/>
            <a:ext cx="3749039" cy="5577840"/>
          </a:xfrm>
          <a:prstGeom prst="rect">
            <a:avLst/>
          </a:prstGeom>
          <a:solidFill>
            <a:srgbClr val="FCF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5156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</a:pPr>
            <a:r>
              <a:rPr sz="1900" b="1">
                <a:solidFill>
                  <a:srgbClr val="735763"/>
                </a:solidFill>
                <a:latin typeface="Noto Sans JP"/>
              </a:rPr>
              <a:t>📩 患者への</a:t>
            </a:r>
          </a:p>
          <a:p>
            <a:pPr algn="l">
              <a:lnSpc>
                <a:spcPts val="2600"/>
              </a:lnSpc>
            </a:pPr>
            <a:r>
              <a:rPr sz="1900" b="1">
                <a:solidFill>
                  <a:srgbClr val="735763"/>
                </a:solidFill>
                <a:latin typeface="Noto Sans JP"/>
              </a:rPr>
              <a:t>確認メール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9202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3040"/>
                </a:solidFill>
                <a:latin typeface="Noto Sans JP"/>
              </a:rPr>
              <a:t>予約確定と同時に自動送信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1945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3040"/>
                </a:solidFill>
                <a:latin typeface="Noto Sans JP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4688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3040"/>
                </a:solidFill>
                <a:latin typeface="Noto Sans JP"/>
              </a:rPr>
              <a:t>・予約番号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7432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3040"/>
                </a:solidFill>
                <a:latin typeface="Noto Sans JP"/>
              </a:rPr>
              <a:t>・日時・担当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0175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3040"/>
                </a:solidFill>
                <a:latin typeface="Noto Sans JP"/>
              </a:rPr>
              <a:t>・キャンセル方法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6080760"/>
            <a:ext cx="3383280" cy="384048"/>
          </a:xfrm>
          <a:prstGeom prst="rect">
            <a:avLst/>
          </a:prstGeom>
          <a:solidFill>
            <a:srgbClr val="735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79321"/>
                </a:solidFill>
                <a:latin typeface="Noto Sans JP"/>
              </a:rPr>
              <a:t>工数：約 1日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60520" y="914400"/>
            <a:ext cx="3749039" cy="5577840"/>
          </a:xfrm>
          <a:prstGeom prst="rect">
            <a:avLst/>
          </a:prstGeom>
          <a:solidFill>
            <a:srgbClr val="FCF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105156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</a:pPr>
            <a:r>
              <a:rPr sz="1900" b="1">
                <a:solidFill>
                  <a:srgbClr val="735763"/>
                </a:solidFill>
                <a:latin typeface="Noto Sans JP"/>
              </a:rPr>
              <a:t>🔔 管理者への</a:t>
            </a:r>
          </a:p>
          <a:p>
            <a:pPr algn="l">
              <a:lnSpc>
                <a:spcPts val="2600"/>
              </a:lnSpc>
            </a:pPr>
            <a:r>
              <a:rPr sz="1900" b="1">
                <a:solidFill>
                  <a:srgbClr val="735763"/>
                </a:solidFill>
                <a:latin typeface="Noto Sans JP"/>
              </a:rPr>
              <a:t>新着通知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19202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3040"/>
                </a:solidFill>
                <a:latin typeface="Noto Sans JP"/>
              </a:rPr>
              <a:t>新規予約が入ったら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21945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3040"/>
                </a:solidFill>
                <a:latin typeface="Noto Sans JP"/>
              </a:rPr>
              <a:t>リアルタイムで通知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24688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3040"/>
                </a:solidFill>
                <a:latin typeface="Noto Sans JP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27432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3040"/>
                </a:solidFill>
                <a:latin typeface="Noto Sans JP"/>
              </a:rPr>
              <a:t>・患者名・日時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30175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3040"/>
                </a:solidFill>
                <a:latin typeface="Noto Sans JP"/>
              </a:rPr>
              <a:t>・症状・初再診区分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43400" y="6080760"/>
            <a:ext cx="3383280" cy="384048"/>
          </a:xfrm>
          <a:prstGeom prst="rect">
            <a:avLst/>
          </a:prstGeom>
          <a:solidFill>
            <a:srgbClr val="735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79321"/>
                </a:solidFill>
                <a:latin typeface="Noto Sans JP"/>
              </a:rPr>
              <a:t>工数：約 0.5日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59" y="914400"/>
            <a:ext cx="3749039" cy="5577840"/>
          </a:xfrm>
          <a:prstGeom prst="rect">
            <a:avLst/>
          </a:prstGeom>
          <a:solidFill>
            <a:srgbClr val="F0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39" y="105156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</a:pPr>
            <a:r>
              <a:rPr sz="1900" b="1">
                <a:solidFill>
                  <a:srgbClr val="735763"/>
                </a:solidFill>
                <a:latin typeface="Noto Sans JP"/>
              </a:rPr>
              <a:t>⏰ 前日</a:t>
            </a:r>
          </a:p>
          <a:p>
            <a:pPr algn="l">
              <a:lnSpc>
                <a:spcPts val="2600"/>
              </a:lnSpc>
            </a:pPr>
            <a:r>
              <a:rPr sz="1900" b="1">
                <a:solidFill>
                  <a:srgbClr val="735763"/>
                </a:solidFill>
                <a:latin typeface="Noto Sans JP"/>
              </a:rPr>
              <a:t>リマインダー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39" y="19202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3040"/>
                </a:solidFill>
                <a:latin typeface="Noto Sans JP"/>
              </a:rPr>
              <a:t>予約前日に自動送信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39" y="21945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3040"/>
                </a:solidFill>
                <a:latin typeface="Noto Sans JP"/>
              </a:rPr>
              <a:t>（任意実装）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39" y="24688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3040"/>
                </a:solidFill>
                <a:latin typeface="Noto Sans JP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39" y="27432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3040"/>
                </a:solidFill>
                <a:latin typeface="Noto Sans JP"/>
              </a:rPr>
              <a:t>・Firebase Functions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39" y="30175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3040"/>
                </a:solidFill>
                <a:latin typeface="Noto Sans JP"/>
              </a:rPr>
              <a:t>  （定期実行機能）で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39" y="32918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3040"/>
                </a:solidFill>
                <a:latin typeface="Noto Sans JP"/>
              </a:rPr>
              <a:t>  スケジュール処理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21039" y="5532120"/>
            <a:ext cx="1828800" cy="292608"/>
          </a:xfrm>
          <a:prstGeom prst="rect">
            <a:avLst/>
          </a:prstGeom>
          <a:solidFill>
            <a:srgbClr val="9B7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JP"/>
              </a:rPr>
              <a:t>NICE TO HAVE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21039" y="6080760"/>
            <a:ext cx="3383280" cy="384048"/>
          </a:xfrm>
          <a:prstGeom prst="rect">
            <a:avLst/>
          </a:prstGeom>
          <a:solidFill>
            <a:srgbClr val="735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79321"/>
                </a:solidFill>
                <a:latin typeface="Noto Sans JP"/>
              </a:rPr>
              <a:t>工数：約 1日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735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 JP"/>
              </a:rPr>
              <a:t>Phase 4〜5　仕上げ・リリース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0" y="182880"/>
            <a:ext cx="1371600" cy="457200"/>
          </a:xfrm>
          <a:prstGeom prst="rect">
            <a:avLst/>
          </a:prstGeom>
          <a:solidFill>
            <a:srgbClr val="9B7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JP"/>
              </a:rPr>
              <a:t>🟡 SHOULD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914400"/>
            <a:ext cx="3749039" cy="5577840"/>
          </a:xfrm>
          <a:prstGeom prst="rect">
            <a:avLst/>
          </a:prstGeom>
          <a:solidFill>
            <a:srgbClr val="FCF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5156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</a:pPr>
            <a:r>
              <a:rPr sz="1900" b="1">
                <a:solidFill>
                  <a:srgbClr val="735763"/>
                </a:solidFill>
                <a:latin typeface="Noto Sans JP"/>
              </a:rPr>
              <a:t>✏️ コンテンツ修正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9202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3040"/>
                </a:solidFill>
                <a:latin typeface="Noto Sans JP"/>
              </a:rPr>
              <a:t>・電話番号のプレースホルダー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1945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3040"/>
                </a:solidFill>
                <a:latin typeface="Noto Sans JP"/>
              </a:rPr>
              <a:t>  （仮の値）を本番値に変更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4688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3040"/>
                </a:solidFill>
                <a:latin typeface="Noto Sans JP"/>
              </a:rPr>
              <a:t>・PDF の日本語ラベル修正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7432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3040"/>
                </a:solidFill>
                <a:latin typeface="Noto Sans JP"/>
              </a:rPr>
              <a:t>・日本語フォントの埋め込み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0175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3040"/>
                </a:solidFill>
                <a:latin typeface="Noto Sans JP"/>
              </a:rPr>
              <a:t>・デモデータの無効化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6080760"/>
            <a:ext cx="3383280" cy="384048"/>
          </a:xfrm>
          <a:prstGeom prst="rect">
            <a:avLst/>
          </a:prstGeom>
          <a:solidFill>
            <a:srgbClr val="735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79321"/>
                </a:solidFill>
                <a:latin typeface="Noto Sans JP"/>
              </a:rPr>
              <a:t>工数：約 0.5日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60520" y="914400"/>
            <a:ext cx="3749039" cy="5577840"/>
          </a:xfrm>
          <a:prstGeom prst="rect">
            <a:avLst/>
          </a:prstGeom>
          <a:solidFill>
            <a:srgbClr val="FCF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105156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</a:pPr>
            <a:r>
              <a:rPr sz="1900" b="1">
                <a:solidFill>
                  <a:srgbClr val="735763"/>
                </a:solidFill>
                <a:latin typeface="Noto Sans JP"/>
              </a:rPr>
              <a:t>📅 祝日・法的対応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19202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3040"/>
                </a:solidFill>
                <a:latin typeface="Noto Sans JP"/>
              </a:rPr>
              <a:t>・祝日 API 連携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21945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3040"/>
                </a:solidFill>
                <a:latin typeface="Noto Sans JP"/>
              </a:rPr>
              <a:t>  （国民の祝日の自動グレーアウト）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24688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3040"/>
                </a:solidFill>
                <a:latin typeface="Noto Sans JP"/>
              </a:rPr>
              <a:t>・プライバシーポリシー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27432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3040"/>
                </a:solidFill>
                <a:latin typeface="Noto Sans JP"/>
              </a:rPr>
              <a:t>  ページ作成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30175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3040"/>
                </a:solidFill>
                <a:latin typeface="Noto Sans JP"/>
              </a:rPr>
              <a:t>・個人情報同意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32918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3040"/>
                </a:solidFill>
                <a:latin typeface="Noto Sans JP"/>
              </a:rPr>
              <a:t>  チェックボックス追加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43400" y="6080760"/>
            <a:ext cx="3383280" cy="384048"/>
          </a:xfrm>
          <a:prstGeom prst="rect">
            <a:avLst/>
          </a:prstGeom>
          <a:solidFill>
            <a:srgbClr val="735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79321"/>
                </a:solidFill>
                <a:latin typeface="Noto Sans JP"/>
              </a:rPr>
              <a:t>工数：約 1日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59" y="914400"/>
            <a:ext cx="3749039" cy="5577840"/>
          </a:xfrm>
          <a:prstGeom prst="rect">
            <a:avLst/>
          </a:prstGeom>
          <a:solidFill>
            <a:srgbClr val="735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39" y="105156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</a:pPr>
            <a:r>
              <a:rPr sz="1900" b="1">
                <a:solidFill>
                  <a:srgbClr val="FCF0DE"/>
                </a:solidFill>
                <a:latin typeface="Noto Sans JP"/>
              </a:rPr>
              <a:t>🔐 セキュリティ・</a:t>
            </a:r>
          </a:p>
          <a:p>
            <a:pPr algn="l">
              <a:lnSpc>
                <a:spcPts val="2600"/>
              </a:lnSpc>
            </a:pPr>
            <a:r>
              <a:rPr sz="1900" b="1">
                <a:solidFill>
                  <a:srgbClr val="FCF0DE"/>
                </a:solidFill>
                <a:latin typeface="Noto Sans JP"/>
              </a:rPr>
              <a:t>デプロイ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39" y="19202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CF0DE"/>
                </a:solidFill>
                <a:latin typeface="Noto Sans JP"/>
              </a:rPr>
              <a:t>・Firestore セキュリティルール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39" y="21945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CF0DE"/>
                </a:solidFill>
                <a:latin typeface="Noto Sans JP"/>
              </a:rPr>
              <a:t>  （アクセス制御ルール）設定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39" y="24688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CF0DE"/>
                </a:solidFill>
                <a:latin typeface="Noto Sans JP"/>
              </a:rPr>
              <a:t>  患者：書き込みのみ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39" y="27432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CF0DE"/>
                </a:solidFill>
                <a:latin typeface="Noto Sans JP"/>
              </a:rPr>
              <a:t>  管理者：読み書き 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39" y="30175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CF0DE"/>
                </a:solidFill>
                <a:latin typeface="Noto Sans JP"/>
              </a:rPr>
              <a:t>・UAT（受入テスト）実施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39" y="32918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CF0DE"/>
                </a:solidFill>
                <a:latin typeface="Noto Sans JP"/>
              </a:rPr>
              <a:t>・Firebase Hosting へデプロイ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21039" y="6080760"/>
            <a:ext cx="3383280" cy="384048"/>
          </a:xfrm>
          <a:prstGeom prst="rect">
            <a:avLst/>
          </a:prstGeom>
          <a:solidFill>
            <a:srgbClr val="F79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735763"/>
                </a:solidFill>
                <a:latin typeface="Noto Sans JP"/>
              </a:rPr>
              <a:t>工数：約 1日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735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 JP"/>
              </a:rPr>
              <a:t>概算見積もり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09728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CF0DE"/>
                </a:solidFill>
                <a:latin typeface="Noto Sans JP"/>
              </a:rPr>
              <a:t>月額ランニングコスト（Firebase 無料枠内で想定）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914400"/>
            <a:ext cx="2834640" cy="1554480"/>
          </a:xfrm>
          <a:prstGeom prst="rect">
            <a:avLst/>
          </a:prstGeom>
          <a:solidFill>
            <a:srgbClr val="FCF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0058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200" b="0">
                <a:solidFill>
                  <a:srgbClr val="9B7E8E"/>
                </a:solidFill>
                <a:latin typeface="Noto Sans JP"/>
              </a:rPr>
              <a:t>Firebase 無料枠</a:t>
            </a:r>
          </a:p>
          <a:p>
            <a:pPr algn="l">
              <a:lnSpc>
                <a:spcPts val="1600"/>
              </a:lnSpc>
            </a:pPr>
            <a:r>
              <a:rPr sz="1200" b="0">
                <a:solidFill>
                  <a:srgbClr val="9B7E8E"/>
                </a:solidFill>
                <a:latin typeface="Noto Sans JP"/>
              </a:rPr>
              <a:t>（Spark プラン）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46304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35763"/>
                </a:solidFill>
                <a:latin typeface="Noto Sans JP"/>
              </a:rPr>
              <a:t>¥ 0 / 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01168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</a:pPr>
            <a:r>
              <a:rPr sz="1100" b="0">
                <a:solidFill>
                  <a:srgbClr val="9B7E8E"/>
                </a:solidFill>
                <a:latin typeface="Noto Sans JP"/>
              </a:rPr>
              <a:t>Firestore・Auth・Hosting 含む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72968" y="914400"/>
            <a:ext cx="2834640" cy="1554480"/>
          </a:xfrm>
          <a:prstGeom prst="rect">
            <a:avLst/>
          </a:prstGeom>
          <a:solidFill>
            <a:srgbClr val="F5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64408" y="10058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200" b="0">
                <a:solidFill>
                  <a:srgbClr val="9B7E8E"/>
                </a:solidFill>
                <a:latin typeface="Noto Sans JP"/>
              </a:rPr>
              <a:t>独自ドメイン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64408" y="146304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35763"/>
                </a:solidFill>
                <a:latin typeface="Noto Sans JP"/>
              </a:rPr>
              <a:t>¥ 1,500 / 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64408" y="201168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</a:pPr>
            <a:r>
              <a:rPr sz="1100" b="0">
                <a:solidFill>
                  <a:srgbClr val="9B7E8E"/>
                </a:solidFill>
                <a:latin typeface="Noto Sans JP"/>
              </a:rPr>
              <a:t>約 125円/月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63056" y="914400"/>
            <a:ext cx="2834640" cy="1554480"/>
          </a:xfrm>
          <a:prstGeom prst="rect">
            <a:avLst/>
          </a:prstGeom>
          <a:solidFill>
            <a:srgbClr val="FCF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4496" y="10058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200" b="0">
                <a:solidFill>
                  <a:srgbClr val="9B7E8E"/>
                </a:solidFill>
                <a:latin typeface="Noto Sans JP"/>
              </a:rPr>
              <a:t>メール送信</a:t>
            </a:r>
          </a:p>
          <a:p>
            <a:pPr algn="l">
              <a:lnSpc>
                <a:spcPts val="1600"/>
              </a:lnSpc>
            </a:pPr>
            <a:r>
              <a:rPr sz="1200" b="0">
                <a:solidFill>
                  <a:srgbClr val="9B7E8E"/>
                </a:solidFill>
                <a:latin typeface="Noto Sans JP"/>
              </a:rPr>
              <a:t>（Resend 無料枠）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54496" y="146304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35763"/>
                </a:solidFill>
                <a:latin typeface="Noto Sans JP"/>
              </a:rPr>
              <a:t>¥ 0 / 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54496" y="201168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</a:pPr>
            <a:r>
              <a:rPr sz="1100" b="0">
                <a:solidFill>
                  <a:srgbClr val="9B7E8E"/>
                </a:solidFill>
                <a:latin typeface="Noto Sans JP"/>
              </a:rPr>
              <a:t>3,000通/月まで無料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53144" y="914400"/>
            <a:ext cx="2834640" cy="1554480"/>
          </a:xfrm>
          <a:prstGeom prst="rect">
            <a:avLst/>
          </a:prstGeom>
          <a:solidFill>
            <a:srgbClr val="F79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44584" y="10058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200" b="0">
                <a:solidFill>
                  <a:srgbClr val="FFFFFF"/>
                </a:solidFill>
                <a:latin typeface="Noto Sans JP"/>
              </a:rPr>
              <a:t>合計（初月〜）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44584" y="146304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Noto Sans JP"/>
              </a:rPr>
              <a:t>¥ 125 / 月〜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44584" y="201168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</a:pPr>
            <a:r>
              <a:rPr sz="1100" b="0">
                <a:solidFill>
                  <a:srgbClr val="FFFFFF"/>
                </a:solidFill>
                <a:latin typeface="Noto Sans JP"/>
              </a:rPr>
              <a:t>規模拡大で</a:t>
            </a:r>
          </a:p>
          <a:p>
            <a:pPr algn="l">
              <a:lnSpc>
                <a:spcPts val="1400"/>
              </a:lnSpc>
            </a:pPr>
            <a:r>
              <a:rPr sz="1100" b="0">
                <a:solidFill>
                  <a:srgbClr val="FFFFFF"/>
                </a:solidFill>
                <a:latin typeface="Noto Sans JP"/>
              </a:rPr>
              <a:t>Functions 有料化あり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2651760"/>
            <a:ext cx="7498079" cy="3931920"/>
          </a:xfrm>
          <a:prstGeom prst="rect">
            <a:avLst/>
          </a:prstGeom>
          <a:solidFill>
            <a:srgbClr val="F5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2788920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35763"/>
                </a:solidFill>
                <a:latin typeface="Noto Sans JP"/>
              </a:rPr>
              <a:t>工数サマリー（ボス1人 ＋ AI 協力）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329184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35763"/>
                </a:solidFill>
                <a:latin typeface="Noto Sans JP"/>
              </a:rPr>
              <a:t>Phase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329184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3040"/>
                </a:solidFill>
                <a:latin typeface="Noto Sans JP"/>
              </a:rPr>
              <a:t>インフラ構築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29184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735763"/>
                </a:solidFill>
                <a:latin typeface="Noto Sans JP"/>
              </a:rPr>
              <a:t>2.5日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3639312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35763"/>
                </a:solidFill>
                <a:latin typeface="Noto Sans JP"/>
              </a:rPr>
              <a:t>Phase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363931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3040"/>
                </a:solidFill>
                <a:latin typeface="Noto Sans JP"/>
              </a:rPr>
              <a:t>コード移行（localStorage → Firestore）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3639312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735763"/>
                </a:solidFill>
                <a:latin typeface="Noto Sans JP"/>
              </a:rPr>
              <a:t>3〜4日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3986784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35763"/>
                </a:solidFill>
                <a:latin typeface="Noto Sans JP"/>
              </a:rPr>
              <a:t>Phase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398678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3040"/>
                </a:solidFill>
                <a:latin typeface="Noto Sans JP"/>
              </a:rPr>
              <a:t>通知機能（メール送信）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3986784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735763"/>
                </a:solidFill>
                <a:latin typeface="Noto Sans JP"/>
              </a:rPr>
              <a:t>1.5日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4334256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35763"/>
                </a:solidFill>
                <a:latin typeface="Noto Sans JP"/>
              </a:rPr>
              <a:t>Phase 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433425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3040"/>
                </a:solidFill>
                <a:latin typeface="Noto Sans JP"/>
              </a:rPr>
              <a:t>仕上げ（コンテンツ・祝日・法的対応）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4334256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735763"/>
                </a:solidFill>
                <a:latin typeface="Noto Sans JP"/>
              </a:rPr>
              <a:t>1.5日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4681728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35763"/>
                </a:solidFill>
                <a:latin typeface="Noto Sans JP"/>
              </a:rPr>
              <a:t>Phase 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468172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3040"/>
                </a:solidFill>
                <a:latin typeface="Noto Sans JP"/>
              </a:rPr>
              <a:t>セキュリティ・UAT・デプロイ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4681728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735763"/>
                </a:solidFill>
                <a:latin typeface="Noto Sans JP"/>
              </a:rPr>
              <a:t>1日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5029200"/>
            <a:ext cx="7132320" cy="18288"/>
          </a:xfrm>
          <a:prstGeom prst="rect">
            <a:avLst/>
          </a:prstGeom>
          <a:solidFill>
            <a:srgbClr val="9B7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51206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35763"/>
                </a:solidFill>
                <a:latin typeface="Noto Sans JP"/>
              </a:rPr>
              <a:t>合計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51206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79321"/>
                </a:solidFill>
                <a:latin typeface="Noto Sans JP"/>
              </a:rPr>
              <a:t>約 10〜12日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863840" y="2651760"/>
            <a:ext cx="4114800" cy="3931920"/>
          </a:xfrm>
          <a:prstGeom prst="rect">
            <a:avLst/>
          </a:prstGeom>
          <a:solidFill>
            <a:srgbClr val="735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46720" y="278892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79321"/>
                </a:solidFill>
                <a:latin typeface="Noto Sans JP"/>
              </a:rPr>
              <a:t>💡 前提条件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46720" y="3291840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CF0DE"/>
                </a:solidFill>
                <a:latin typeface="Noto Sans JP"/>
              </a:rPr>
              <a:t>・Firebase の基本知識あり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46720" y="3602736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CF0DE"/>
                </a:solidFill>
                <a:latin typeface="Noto Sans JP"/>
              </a:rPr>
              <a:t>・コーディングは AI（ワタシ）と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46720" y="3913632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CF0DE"/>
                </a:solidFill>
                <a:latin typeface="Noto Sans JP"/>
              </a:rPr>
              <a:t>  ペアプログラミング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46720" y="4224528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CF0DE"/>
                </a:solidFill>
                <a:latin typeface="Noto Sans JP"/>
              </a:rPr>
              <a:t>・1日 ＝ 実作業 4〜6時間換算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46720" y="4535424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CF0DE"/>
                </a:solidFill>
                <a:latin typeface="Noto Sans JP"/>
              </a:rPr>
              <a:t>・テスト・レビュー時間含む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35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548640" cy="54864"/>
          </a:xfrm>
          <a:prstGeom prst="rect">
            <a:avLst/>
          </a:prstGeom>
          <a:solidFill>
            <a:srgbClr val="F79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Noto Sans JP"/>
              </a:rPr>
              <a:t>さあ、本番を作ろう。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375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FCF0DE"/>
                </a:solidFill>
                <a:latin typeface="Noto Sans JP"/>
              </a:rPr>
              <a:t>Phase 1 から、一緒に進めましょう。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977639"/>
            <a:ext cx="1371600" cy="36576"/>
          </a:xfrm>
          <a:prstGeom prst="rect">
            <a:avLst/>
          </a:prstGeom>
          <a:solidFill>
            <a:srgbClr val="F79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4160520"/>
            <a:ext cx="502920" cy="502920"/>
          </a:xfrm>
          <a:prstGeom prst="rect">
            <a:avLst/>
          </a:prstGeom>
          <a:solidFill>
            <a:srgbClr val="F79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JP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709160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CF0DE"/>
                </a:solidFill>
                <a:latin typeface="Noto Sans JP"/>
              </a:rPr>
              <a:t>インフラ構築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4160520"/>
            <a:ext cx="502920" cy="502920"/>
          </a:xfrm>
          <a:prstGeom prst="rect">
            <a:avLst/>
          </a:prstGeom>
          <a:solidFill>
            <a:srgbClr val="F79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JP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4709160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CF0DE"/>
                </a:solidFill>
                <a:latin typeface="Noto Sans JP"/>
              </a:rPr>
              <a:t>コード移行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20640" y="4160520"/>
            <a:ext cx="502920" cy="502920"/>
          </a:xfrm>
          <a:prstGeom prst="rect">
            <a:avLst/>
          </a:prstGeom>
          <a:solidFill>
            <a:srgbClr val="F79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JP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80" y="4709160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CF0DE"/>
                </a:solidFill>
                <a:latin typeface="Noto Sans JP"/>
              </a:rPr>
              <a:t>通知機能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23759" y="4160520"/>
            <a:ext cx="502920" cy="502920"/>
          </a:xfrm>
          <a:prstGeom prst="rect">
            <a:avLst/>
          </a:prstGeom>
          <a:solidFill>
            <a:srgbClr val="F79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JP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599" y="4709160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CF0DE"/>
                </a:solidFill>
                <a:latin typeface="Noto Sans JP"/>
              </a:rPr>
              <a:t>仕上げ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0" y="4160520"/>
            <a:ext cx="502920" cy="502920"/>
          </a:xfrm>
          <a:prstGeom prst="rect">
            <a:avLst/>
          </a:prstGeom>
          <a:solidFill>
            <a:srgbClr val="F79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JP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4709160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CF0DE"/>
                </a:solidFill>
                <a:latin typeface="Noto Sans JP"/>
              </a:rPr>
              <a:t>リリース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60350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79321"/>
                </a:solidFill>
                <a:latin typeface="Noto Sans JP"/>
              </a:rPr>
              <a:t>総工数 約 10〜12日　|　月額コスト 約 ¥125〜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